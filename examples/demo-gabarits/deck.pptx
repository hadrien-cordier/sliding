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 des tokens</c:v>
                </c:pt>
              </c:strCache>
            </c:strRef>
          </c:tx>
          <c:spPr>
            <a:solidFill>
              <a:srgbClr val="1F4E79"/>
            </a:solidFill>
          </c:spPr>
          <c:dPt>
            <c:idx val="5"/>
            <c:spPr>
              <a:solidFill>
                <a:srgbClr val="1F4E79"/>
              </a:solidFill>
            </c:spPr>
          </c:dPt>
          <c:dPt>
            <c:idx val="4"/>
            <c:spPr>
              <a:solidFill>
                <a:srgbClr val="A6A6A6"/>
              </a:solidFill>
            </c:spPr>
          </c:dPt>
          <c:dPt>
            <c:idx val="3"/>
            <c:spPr>
              <a:solidFill>
                <a:srgbClr val="A6A6A6"/>
              </a:solidFill>
            </c:spPr>
          </c:dPt>
          <c:dPt>
            <c:idx val="2"/>
            <c:spPr>
              <a:solidFill>
                <a:srgbClr val="A6A6A6"/>
              </a:solidFill>
            </c:spPr>
          </c:dPt>
          <c:dPt>
            <c:idx val="1"/>
            <c:spPr>
              <a:solidFill>
                <a:srgbClr val="A6A6A6"/>
              </a:solidFill>
            </c:spPr>
          </c:dPt>
          <c:dPt>
            <c:idx val="0"/>
            <c:spPr>
              <a:solidFill>
                <a:srgbClr val="A6A6A6"/>
              </a:solidFill>
            </c:spPr>
          </c:dPt>
          <c:cat>
            <c:strRef>
              <c:f>Sheet1!$A$2:$A$7</c:f>
              <c:strCache>
                <c:ptCount val="6"/>
                <c:pt idx="0">
                  <c:v>Construction</c:v>
                </c:pt>
                <c:pt idx="1">
                  <c:v>Recherche</c:v>
                </c:pt>
                <c:pt idx="2">
                  <c:v>Ghost deck</c:v>
                </c:pt>
                <c:pt idx="3">
                  <c:v>Lecture des sources</c:v>
                </c:pt>
                <c:pt idx="4">
                  <c:v>Storyboard</c:v>
                </c:pt>
                <c:pt idx="5">
                  <c:v>Revues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8</c:v>
                </c:pt>
                <c:pt idx="2">
                  <c:v>12</c:v>
                </c:pt>
                <c:pt idx="3">
                  <c:v>15</c:v>
                </c:pt>
                <c:pt idx="4">
                  <c:v>20</c:v>
                </c:pt>
                <c:pt idx="5">
                  <c:v>40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A1A1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Temps actuel</c:v>
                </c:pt>
                <c:pt idx="1">
                  <c:v>Rédaction</c:v>
                </c:pt>
                <c:pt idx="2">
                  <c:v>Mise en page</c:v>
                </c:pt>
                <c:pt idx="3">
                  <c:v>Revues</c:v>
                </c:pt>
                <c:pt idx="4">
                  <c:v>Temps cible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5.0</c:v>
                </c:pt>
                <c:pt idx="2">
                  <c:v>3.0</c:v>
                </c:pt>
                <c:pt idx="3">
                  <c:v>3.0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valeur</c:v>
                </c:pt>
              </c:strCache>
            </c:strRef>
          </c:tx>
          <c:dPt>
            <c:idx val="0"/>
            <c:spPr>
              <a:solidFill>
                <a:srgbClr val="1F4E79"/>
              </a:solidFill>
            </c:spPr>
          </c:dPt>
          <c:dPt>
            <c:idx val="1"/>
            <c:spPr>
              <a:solidFill>
                <a:srgbClr val="BFBFBF"/>
              </a:solidFill>
            </c:spPr>
          </c:dPt>
          <c:dPt>
            <c:idx val="2"/>
            <c:spPr>
              <a:solidFill>
                <a:srgbClr val="BFBFBF"/>
              </a:solidFill>
            </c:spPr>
          </c:dPt>
          <c:dPt>
            <c:idx val="3"/>
            <c:spPr>
              <a:solidFill>
                <a:srgbClr val="7F7F7F"/>
              </a:solidFill>
            </c:spPr>
          </c:dPt>
          <c:dPt>
            <c:idx val="4"/>
            <c:spPr>
              <a:solidFill>
                <a:srgbClr val="1F4E79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</a:rPr>
                      <a:t>10 h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>
                        <a:solidFill>
                          <a:srgbClr val="1A1A1A"/>
                        </a:solidFill>
                      </a:rPr>
                      <a:t>−5 h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>
                        <a:solidFill>
                          <a:srgbClr val="1A1A1A"/>
                        </a:solidFill>
                      </a:rPr>
                      <a:t>−2 h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0">
                        <a:solidFill>
                          <a:srgbClr val="FFFFFF"/>
                        </a:solidFill>
                      </a:rPr>
                      <a:t>+2 h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</a:rPr>
                      <a:t>5 h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Temps actuel</c:v>
                </c:pt>
                <c:pt idx="1">
                  <c:v>Rédaction</c:v>
                </c:pt>
                <c:pt idx="2">
                  <c:v>Mise en page</c:v>
                </c:pt>
                <c:pt idx="3">
                  <c:v>Revues</c:v>
                </c:pt>
                <c:pt idx="4">
                  <c:v>Temps cible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10.0</c:v>
                </c:pt>
                <c:pt idx="1">
                  <c:v>5.0</c:v>
                </c:pt>
                <c:pt idx="2">
                  <c:v>2.0</c:v>
                </c:pt>
                <c:pt idx="3">
                  <c:v>2.0</c:v>
                </c:pt>
                <c:pt idx="4">
                  <c:v>5.0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d'introduction : pourquoi le travail existe et ce qu'il vise.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17373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Arial"/>
              </a:rPr>
              <a:t>Une équipe d'agents construit des decks de conseil à partir des priorités du lecteur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10362895" cy="7315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Arial"/>
              </a:rPr>
              <a:t>Deck de démonstration des gabarits · les chiffres des slides de graphiques sont fictifs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</a:rPr>
              <a:t>Le système vise des decks qui remodèlent les sources autour des questions du lecteur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7648"/>
            <a:ext cx="10362895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Source : Cahier des charges du projet deck-conseil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228600" rIns="228600" tIns="182880" bIns="182880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Construire chaque deck à partir des questions du lecteur, puis prouver chaque réponse par les sources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75789" y="2560320"/>
            <a:ext cx="0" cy="274319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2834639"/>
            <a:ext cx="3637178" cy="3383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Le lecteur fixe l'ordre des idées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Le cadrage identifie ses questions et leur priorité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Le ghost deck suit cet ordre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560320"/>
            <a:ext cx="0" cy="274319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277258" y="2834639"/>
            <a:ext cx="3637178" cy="3383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Les sources fournissent les preuves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Le lecteur de documents livre les takeaways avant le résumé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Chaque chiffre garde sa page source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915906" y="2560320"/>
            <a:ext cx="0" cy="274319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097316" y="2834639"/>
            <a:ext cx="3637178" cy="3383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Les revues gardent la logique intacte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Trois portes contrôlent Minto et le logical writing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Un reviewer séparé juge sans avoir produit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</a:rPr>
              <a:t>Le deck passe d'un résumé des documents à une réponse ordonnée aux questions du lecteur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4998567" cy="4800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Le deck actuel suit l'ordre des documents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Chaque slide résume une source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Le lecteur cherche lui-même ce qui le concerne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Les titres nomment un sujet sans affirmer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735927" y="1417320"/>
            <a:ext cx="4998567" cy="480060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Le deck cible suit l'ordre des questions du lecteur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Chaque slide répond à une question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Les sources prouvent la réponse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Les titres lus seuls racontent l'histoire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638647" y="3406139"/>
            <a:ext cx="914400" cy="82296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01487" y="4320540"/>
            <a:ext cx="1188720" cy="109728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Ghost deck validé avant toute 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</a:rPr>
              <a:t>Six étapes séparent la demande du fichier final et aucune slide ne précède le ghost deck validé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417320"/>
            <a:ext cx="1943557" cy="685800"/>
          </a:xfrm>
          <a:prstGeom prst="homePlat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45720" rIns="45720" tIns="36576" bIns="36576">
            <a:no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Cadrage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833829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 marL="164592" indent="-164592"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Objectif et destinataire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Questions du lecteur</a:t>
            </a:r>
          </a:p>
        </p:txBody>
      </p:sp>
      <p:sp>
        <p:nvSpPr>
          <p:cNvPr id="6" name="Chevron 5"/>
          <p:cNvSpPr/>
          <p:nvPr/>
        </p:nvSpPr>
        <p:spPr>
          <a:xfrm>
            <a:off x="2345893" y="1417320"/>
            <a:ext cx="1943557" cy="68580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45720" rIns="45720" tIns="36576" bIns="36576">
            <a:no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Matière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345893" y="2286000"/>
            <a:ext cx="1833829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 marL="164592" indent="-164592"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Takeaways des sources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Recherches ciblées</a:t>
            </a:r>
          </a:p>
        </p:txBody>
      </p:sp>
      <p:sp>
        <p:nvSpPr>
          <p:cNvPr id="8" name="Chevron 7"/>
          <p:cNvSpPr/>
          <p:nvPr/>
        </p:nvSpPr>
        <p:spPr>
          <a:xfrm>
            <a:off x="4234586" y="1417320"/>
            <a:ext cx="1943557" cy="68580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45720" rIns="45720" tIns="36576" bIns="36576">
            <a:no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Ghost deck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4586" y="2286000"/>
            <a:ext cx="1833829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 marL="164592" indent="-164592"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Buckets par question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Titres enchaînés</a:t>
            </a:r>
          </a:p>
        </p:txBody>
      </p:sp>
      <p:sp>
        <p:nvSpPr>
          <p:cNvPr id="10" name="Chevron 9"/>
          <p:cNvSpPr/>
          <p:nvPr/>
        </p:nvSpPr>
        <p:spPr>
          <a:xfrm>
            <a:off x="6123279" y="1417320"/>
            <a:ext cx="1943557" cy="68580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45720" rIns="45720" tIns="36576" bIns="36576">
            <a:no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Storyboard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3279" y="2286000"/>
            <a:ext cx="1833829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 marL="164592" indent="-164592"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Contenu des blocs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Gabarit visuel</a:t>
            </a:r>
          </a:p>
        </p:txBody>
      </p:sp>
      <p:sp>
        <p:nvSpPr>
          <p:cNvPr id="12" name="Chevron 11"/>
          <p:cNvSpPr/>
          <p:nvPr/>
        </p:nvSpPr>
        <p:spPr>
          <a:xfrm>
            <a:off x="8011972" y="1417320"/>
            <a:ext cx="1943557" cy="68580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45720" rIns="45720" tIns="36576" bIns="36576">
            <a:no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Revues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1972" y="2286000"/>
            <a:ext cx="1833829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 marL="164592" indent="-164592"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Minto à chaque niveau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Logical writing</a:t>
            </a:r>
          </a:p>
        </p:txBody>
      </p:sp>
      <p:sp>
        <p:nvSpPr>
          <p:cNvPr id="14" name="Chevron 13"/>
          <p:cNvSpPr/>
          <p:nvPr/>
        </p:nvSpPr>
        <p:spPr>
          <a:xfrm>
            <a:off x="9900666" y="1417320"/>
            <a:ext cx="1833829" cy="68580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45720" rIns="45720" tIns="36576" bIns="36576">
            <a:no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Construction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0666" y="2286000"/>
            <a:ext cx="1833829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 marL="164592" indent="-164592"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Fichier .pptx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Contrôle du rendu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</a:rPr>
              <a:t>Le ghost deck range l'information en buckets qui répondent chacun à une question du lecteur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994660"/>
            <a:ext cx="2377440" cy="1645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Faut-il industrialiser la production de decks 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0" y="3817620"/>
            <a:ext cx="274320" cy="0"/>
          </a:xfrm>
          <a:prstGeom prst="line">
            <a:avLst/>
          </a:prstGeom>
          <a:ln w="158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108960" y="2156460"/>
            <a:ext cx="0" cy="3322320"/>
          </a:xfrm>
          <a:prstGeom prst="line">
            <a:avLst/>
          </a:prstGeom>
          <a:ln w="158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108960" y="2156460"/>
            <a:ext cx="274320" cy="0"/>
          </a:xfrm>
          <a:prstGeom prst="line">
            <a:avLst/>
          </a:prstGeom>
          <a:ln w="158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383280" y="1417320"/>
            <a:ext cx="2926080" cy="147827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Le besoin existe-t-il 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09360" y="2156460"/>
            <a:ext cx="457200" cy="0"/>
          </a:xfrm>
          <a:prstGeom prst="line">
            <a:avLst/>
          </a:prstGeom>
          <a:ln w="158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1417320"/>
            <a:ext cx="4967935" cy="1478279"/>
          </a:xfrm>
          <a:prstGeom prst="rect">
            <a:avLst/>
          </a:prstGeom>
          <a:noFill/>
        </p:spPr>
        <p:txBody>
          <a:bodyPr wrap="square" anchor="ctr" tIns="73152" bIns="73152">
            <a:noAutofit/>
          </a:bodyPr>
          <a:lstStyle/>
          <a:p>
            <a:pPr algn="l" marL="164592" indent="-164592"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Volume de decks produits</a:t>
            </a:r>
          </a:p>
          <a:p>
            <a:pPr algn="l" marL="164592" indent="-164592">
              <a:spcBef>
                <a:spcPts val="300"/>
              </a:spcBef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Temps passé par deck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3817620"/>
            <a:ext cx="274320" cy="0"/>
          </a:xfrm>
          <a:prstGeom prst="line">
            <a:avLst/>
          </a:prstGeom>
          <a:ln w="158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383280" y="3078479"/>
            <a:ext cx="2926080" cy="147827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La solution fonctionne-t-elle 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09360" y="3817620"/>
            <a:ext cx="457200" cy="0"/>
          </a:xfrm>
          <a:prstGeom prst="line">
            <a:avLst/>
          </a:prstGeom>
          <a:ln w="158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66560" y="3078479"/>
            <a:ext cx="4967935" cy="1478279"/>
          </a:xfrm>
          <a:prstGeom prst="rect">
            <a:avLst/>
          </a:prstGeom>
          <a:noFill/>
        </p:spPr>
        <p:txBody>
          <a:bodyPr wrap="square" anchor="ctr" tIns="73152" bIns="73152">
            <a:noAutofit/>
          </a:bodyPr>
          <a:lstStyle/>
          <a:p>
            <a:pPr algn="l" marL="164592" indent="-164592"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Qualité des titres</a:t>
            </a:r>
          </a:p>
          <a:p>
            <a:pPr algn="l" marL="164592" indent="-164592">
              <a:spcBef>
                <a:spcPts val="300"/>
              </a:spcBef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Respect de la pyramide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8960" y="5478780"/>
            <a:ext cx="274320" cy="0"/>
          </a:xfrm>
          <a:prstGeom prst="line">
            <a:avLst/>
          </a:prstGeom>
          <a:ln w="158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383280" y="4739639"/>
            <a:ext cx="2926080" cy="147827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Que faut-il engager 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09360" y="5478780"/>
            <a:ext cx="457200" cy="0"/>
          </a:xfrm>
          <a:prstGeom prst="line">
            <a:avLst/>
          </a:prstGeom>
          <a:ln w="158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66560" y="4739639"/>
            <a:ext cx="4967935" cy="1478279"/>
          </a:xfrm>
          <a:prstGeom prst="rect">
            <a:avLst/>
          </a:prstGeom>
          <a:noFill/>
        </p:spPr>
        <p:txBody>
          <a:bodyPr wrap="square" anchor="ctr" tIns="73152" bIns="73152">
            <a:noAutofit/>
          </a:bodyPr>
          <a:lstStyle/>
          <a:p>
            <a:pPr algn="l" marL="164592" indent="-164592"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Temps de prototypage</a:t>
            </a:r>
          </a:p>
          <a:p>
            <a:pPr algn="l" marL="164592" indent="-164592">
              <a:spcBef>
                <a:spcPts val="300"/>
              </a:spcBef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Accès aux outils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</a:rPr>
              <a:t>Trois contrôles transversaux appliquent Minto et le logical writing à chaque niveau du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3637178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Le deck porte une idée directrice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Les titres lus à la suite forment le narratif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Aucune idée ne revient d'une slide à l'autre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77258" y="1417320"/>
            <a:ext cx="3637178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La slide traite tout son titre et rien d'autre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Chaque élément du titre trouve sa preuve dans le corps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Le corps reste dans le périmètre du titre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097316" y="1417320"/>
            <a:ext cx="3637178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Le bloc répond à une question par une idée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Son titre énonce l'idée que le texte détaille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Chaque phrase reste à la voix active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32120"/>
            <a:ext cx="11277295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Arial"/>
              </a:rPr>
              <a:t>Chaque agent applique ces règles en produisant ; le reviewer les vérifie à chaque porte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</a:rPr>
              <a:t>Chaque agent livre un fichier unique que l'agent suivant lit sans retraiter les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3291840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Le lecteur de sources livre les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417320"/>
            <a:ext cx="7802575" cy="1097280"/>
          </a:xfrm>
          <a:prstGeom prst="rect">
            <a:avLst/>
          </a:prstGeom>
          <a:noFill/>
        </p:spPr>
        <p:txBody>
          <a:bodyPr wrap="square" anchor="ctr" tIns="73152" bIns="73152">
            <a:noAutofit/>
          </a:bodyPr>
          <a:lstStyle/>
          <a:p>
            <a:pPr algn="l" marL="164592" indent="-164592"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Il ouvre par ce que le lecteur doit retenir</a:t>
            </a:r>
          </a:p>
          <a:p>
            <a:pPr algn="l" marL="164592" indent="-164592">
              <a:spcBef>
                <a:spcPts val="4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Il garde la page source de chaque chiffre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31920" y="2583180"/>
            <a:ext cx="780257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2651760"/>
            <a:ext cx="3291840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L'architecte livre le ghost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651760"/>
            <a:ext cx="7802575" cy="1097280"/>
          </a:xfrm>
          <a:prstGeom prst="rect">
            <a:avLst/>
          </a:prstGeom>
          <a:noFill/>
        </p:spPr>
        <p:txBody>
          <a:bodyPr wrap="square" anchor="ctr" tIns="73152" bIns="73152">
            <a:noAutofit/>
          </a:bodyPr>
          <a:lstStyle/>
          <a:p>
            <a:pPr algn="l" marL="164592" indent="-164592"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Il écrit l'idée directrice, le SCQA et les titres</a:t>
            </a:r>
          </a:p>
          <a:p>
            <a:pPr algn="l" marL="164592" indent="-164592">
              <a:spcBef>
                <a:spcPts val="4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Il relie chaque titre à une question du lecteur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31920" y="3817620"/>
            <a:ext cx="780257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3886200"/>
            <a:ext cx="3291840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Le directeur visuel livre le storyboard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886200"/>
            <a:ext cx="7802575" cy="1097280"/>
          </a:xfrm>
          <a:prstGeom prst="rect">
            <a:avLst/>
          </a:prstGeom>
          <a:noFill/>
        </p:spPr>
        <p:txBody>
          <a:bodyPr wrap="square" anchor="ctr" tIns="73152" bIns="73152">
            <a:noAutofit/>
          </a:bodyPr>
          <a:lstStyle/>
          <a:p>
            <a:pPr algn="l" marL="164592" indent="-164592"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Il rédige les blocs de chaque slide</a:t>
            </a:r>
          </a:p>
          <a:p>
            <a:pPr algn="l" marL="164592" indent="-164592">
              <a:spcBef>
                <a:spcPts val="4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Il choisit le gabarit qui montre la relation logique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31920" y="5052060"/>
            <a:ext cx="780257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5120640"/>
            <a:ext cx="3291840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Le constructeur livre le fichier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5120640"/>
            <a:ext cx="7802575" cy="1097280"/>
          </a:xfrm>
          <a:prstGeom prst="rect">
            <a:avLst/>
          </a:prstGeom>
          <a:noFill/>
        </p:spPr>
        <p:txBody>
          <a:bodyPr wrap="square" anchor="ctr" tIns="73152" bIns="73152">
            <a:noAutofit/>
          </a:bodyPr>
          <a:lstStyle/>
          <a:p>
            <a:pPr algn="l" marL="164592" indent="-164592"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Il génère le .pptx et contrôle le rendu</a:t>
            </a:r>
          </a:p>
          <a:p>
            <a:pPr algn="l" marL="164592" indent="-164592">
              <a:spcBef>
                <a:spcPts val="4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Il corrige les débordements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</a:rPr>
              <a:t>L'effort de prompt se concentre sur les étapes à forte valeur que l'automatisation couvre 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-1417320" y="3291839"/>
            <a:ext cx="4114800" cy="36576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Arial"/>
              </a:rPr>
              <a:t>Valeur pour le lecteur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48640" cy="36576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Forte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166359"/>
            <a:ext cx="54864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Faible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298448" y="1417320"/>
            <a:ext cx="0" cy="4114800"/>
          </a:xfrm>
          <a:prstGeom prst="line">
            <a:avLst/>
          </a:prstGeom>
          <a:ln w="15875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98448" y="5605272"/>
            <a:ext cx="6150675" cy="0"/>
          </a:xfrm>
          <a:prstGeom prst="line">
            <a:avLst/>
          </a:prstGeom>
          <a:ln w="15875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71600" y="5669280"/>
            <a:ext cx="6077523" cy="32004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Arial"/>
              </a:rPr>
              <a:t>Facilité d'automatisation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69280"/>
            <a:ext cx="1371600" cy="32004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Faible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7523" y="5669280"/>
            <a:ext cx="1371600" cy="32004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Forte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417320"/>
            <a:ext cx="2993041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rial"/>
              </a:rPr>
              <a:t>Investir dans les prompts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Ghost deck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Revue Minto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56081" y="1417320"/>
            <a:ext cx="2993041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Automatiser en priorité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Lecture des sources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Linter d'écriture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520440"/>
            <a:ext cx="2993041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Garder humain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Validation finale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6081" y="3520440"/>
            <a:ext cx="2993041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Scripter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Génération .pptx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Rendu PNG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3443" y="1417320"/>
            <a:ext cx="401105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Le ghost deck décide de la qualité finale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Un mauvais narratif résiste à toute mise en page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3443" y="3886200"/>
            <a:ext cx="401105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La mise en page relève du script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Le générateur applique la charte sans jugement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</a:rPr>
              <a:t>Le plugin Claude Code délègue chaque étape à un agent séparé, là où le skill claude.ai la joue en séquence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77294" cy="3200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32096"/>
                <a:gridCol w="4172599"/>
                <a:gridCol w="4172599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Critère</a:t>
                      </a:r>
                    </a:p>
                  </a:txBody>
                  <a:tcPr anchor="ctr" marL="91440" marR="91440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Arial"/>
                        </a:rPr>
                        <a:t>Plugin Claude Code</a:t>
                      </a:r>
                    </a:p>
                  </a:txBody>
                  <a:tcPr anchor="ctr" marL="91440" marR="91440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Skill claude.ai</a:t>
                      </a:r>
                    </a:p>
                  </a:txBody>
                  <a:tcPr anchor="ctr" marL="91440" marR="91440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Agents séparés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4E7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Reviewer indépendant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4E7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Génération .pptx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4E7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Mise en place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4E7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5347580" y="2249424"/>
            <a:ext cx="256032" cy="25603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20179" y="224942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9520179" y="2249424"/>
            <a:ext cx="256032" cy="256032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47580" y="2889504"/>
            <a:ext cx="256032" cy="25603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20179" y="288950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9520179" y="2889504"/>
            <a:ext cx="256032" cy="256032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47580" y="3529583"/>
            <a:ext cx="256032" cy="25603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20179" y="3529583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ie 12"/>
          <p:cNvSpPr/>
          <p:nvPr/>
        </p:nvSpPr>
        <p:spPr>
          <a:xfrm>
            <a:off x="9520179" y="3529583"/>
            <a:ext cx="256032" cy="256032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47580" y="4169663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ie 14"/>
          <p:cNvSpPr/>
          <p:nvPr/>
        </p:nvSpPr>
        <p:spPr>
          <a:xfrm>
            <a:off x="5347580" y="4169663"/>
            <a:ext cx="256032" cy="256032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20179" y="4169663"/>
            <a:ext cx="256032" cy="25603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9296" y="1417320"/>
            <a:ext cx="4172599" cy="320040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09159"/>
            <a:ext cx="11277295" cy="32004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● couverture complète · ○ aucune couverture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</a:rPr>
              <a:t>Dans l'exemple fictif, les revues consomment la plus grande part des tokens du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7648"/>
            <a:ext cx="10362895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Source : Données fictives pour illustrer le gabarit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6766377" cy="54864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Les trois portes de revue pèsent 40 % des tokens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011680"/>
          <a:ext cx="6766377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497897" y="1417320"/>
            <a:ext cx="4236598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Les revues relisent tout le storyboard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Chaque porte recharge les fichiers produits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7897" y="3886200"/>
            <a:ext cx="4236598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Le linter réduit le coût des revues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Il traite les règles mécaniques avant le reviewer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</a:rPr>
              <a:t>Dans l'exemple fictif, le pipeline réduit de moitié le temps de production d'un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7648"/>
            <a:ext cx="10362895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Source : Données fictives pour illustrer le gabarit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6991923" cy="54864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Le gain de rédaction dépasse le temps ajouté par les revues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011680"/>
          <a:ext cx="6991923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723443" y="1417320"/>
            <a:ext cx="401105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La rédaction concentre le gain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Le ghost deck évite les réécritures tardives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3443" y="3886200"/>
            <a:ext cx="401105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Les revues ajoutent un coût assumé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Elles remplacent les allers-retours avec le manager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</a:rPr>
              <a:t>La feuille de route mène d'un générateur de slides à un reviewer de Partner automatisé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7648"/>
            <a:ext cx="10362895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Source : Feuille de route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12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57200" y="1417320"/>
            <a:ext cx="11277295" cy="45720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182880" rIns="182880" tIns="146304" bIns="146304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Valeur pour le consultant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21608"/>
            <a:ext cx="3637178" cy="2496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V1 structure le raisonnement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Besoin, takeaways, ghost deck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Storyboard sans fichier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7258" y="2889503"/>
            <a:ext cx="3637178" cy="33284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V2 produit le fichier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Génération .pptx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Charte fond blanc et boxes grises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7316" y="2057400"/>
            <a:ext cx="3637178" cy="416052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V3 critique le deck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Slides inutiles repérées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Affirmations sans preuve signalées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</a:rPr>
              <a:t>Le prototype tient en quatre semaines, du cadrage des prompts au premier deck réel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7648"/>
            <a:ext cx="10362895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Source : Hypothèse de planning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2103120"/>
            <a:ext cx="11277295" cy="0"/>
          </a:xfrm>
          <a:prstGeom prst="line">
            <a:avLst/>
          </a:prstGeom>
          <a:ln w="31750">
            <a:solidFill>
              <a:srgbClr val="1F4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417320"/>
            <a:ext cx="2682163" cy="50292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rial"/>
              </a:rPr>
              <a:t>Semaine 1</a:t>
            </a:r>
          </a:p>
        </p:txBody>
      </p:sp>
      <p:sp>
        <p:nvSpPr>
          <p:cNvPr id="7" name="Oval 6"/>
          <p:cNvSpPr/>
          <p:nvPr/>
        </p:nvSpPr>
        <p:spPr>
          <a:xfrm>
            <a:off x="1697697" y="2002536"/>
            <a:ext cx="201168" cy="20116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77439"/>
            <a:ext cx="2682163" cy="3840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Prompts des rôles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Rôles et références écrits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2243" y="1417320"/>
            <a:ext cx="2682163" cy="50292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rial"/>
              </a:rPr>
              <a:t>Semaine 2</a:t>
            </a:r>
          </a:p>
        </p:txBody>
      </p:sp>
      <p:sp>
        <p:nvSpPr>
          <p:cNvPr id="10" name="Oval 9"/>
          <p:cNvSpPr/>
          <p:nvPr/>
        </p:nvSpPr>
        <p:spPr>
          <a:xfrm>
            <a:off x="4562741" y="2002536"/>
            <a:ext cx="201168" cy="20116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2243" y="2377439"/>
            <a:ext cx="2682163" cy="3840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Générateur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Gabarits et linter testés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7287" y="1417320"/>
            <a:ext cx="2682163" cy="50292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rial"/>
              </a:rPr>
              <a:t>Semaine 3</a:t>
            </a:r>
          </a:p>
        </p:txBody>
      </p:sp>
      <p:sp>
        <p:nvSpPr>
          <p:cNvPr id="13" name="Oval 12"/>
          <p:cNvSpPr/>
          <p:nvPr/>
        </p:nvSpPr>
        <p:spPr>
          <a:xfrm>
            <a:off x="7427785" y="2002536"/>
            <a:ext cx="201168" cy="20116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7287" y="2377439"/>
            <a:ext cx="2682163" cy="3840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Revues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Portes calibrées sur trois decks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331" y="1417320"/>
            <a:ext cx="2682163" cy="50292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rial"/>
              </a:rPr>
              <a:t>Semaine 4</a:t>
            </a:r>
          </a:p>
        </p:txBody>
      </p:sp>
      <p:sp>
        <p:nvSpPr>
          <p:cNvPr id="16" name="Oval 15"/>
          <p:cNvSpPr/>
          <p:nvPr/>
        </p:nvSpPr>
        <p:spPr>
          <a:xfrm>
            <a:off x="10292829" y="2002536"/>
            <a:ext cx="201168" cy="20116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331" y="2377439"/>
            <a:ext cx="2682163" cy="3840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Premier deck réel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Test sur un sujet en cours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</a:rPr>
              <a:t>Trois conditions décident de la qualité du système au-delà des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4800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74320" rIns="274320" tIns="219456" bIns="219456">
            <a:noAutofit/>
          </a:bodyPr>
          <a:lstStyle/>
          <a:p>
            <a:pPr algn="l"/>
            <a:r>
              <a:rPr sz="1750" b="1">
                <a:solidFill>
                  <a:srgbClr val="1A1A1A"/>
                </a:solidFill>
                <a:latin typeface="Arial"/>
              </a:rPr>
              <a:t>Le système vaut ce que valent ses entrées et ses contrôles</a:t>
            </a:r>
          </a:p>
          <a:p>
            <a:pPr algn="l" marL="164592" indent="-164592">
              <a:spcBef>
                <a:spcPts val="800"/>
              </a:spcBef>
              <a:buChar char="•"/>
            </a:pPr>
            <a:r>
              <a:rPr sz="1600" b="0">
                <a:solidFill>
                  <a:srgbClr val="1A1A1A"/>
                </a:solidFill>
                <a:latin typeface="Arial"/>
              </a:rPr>
              <a:t>Le cadrage obtient les vraies questions du lecteur avant toute rédaction</a:t>
            </a:r>
          </a:p>
          <a:p>
            <a:pPr algn="l" marL="164592" indent="-164592">
              <a:spcBef>
                <a:spcPts val="800"/>
              </a:spcBef>
              <a:buChar char="•"/>
            </a:pPr>
            <a:r>
              <a:rPr sz="1600" b="0">
                <a:solidFill>
                  <a:srgbClr val="1A1A1A"/>
                </a:solidFill>
                <a:latin typeface="Arial"/>
              </a:rPr>
              <a:t>Les sources fournies contiennent les preuves que le deck affirme</a:t>
            </a:r>
          </a:p>
          <a:p>
            <a:pPr algn="l" marL="164592" indent="-164592">
              <a:spcBef>
                <a:spcPts val="800"/>
              </a:spcBef>
              <a:buChar char="•"/>
            </a:pPr>
            <a:r>
              <a:rPr sz="1600" b="0">
                <a:solidFill>
                  <a:srgbClr val="1A1A1A"/>
                </a:solidFill>
                <a:latin typeface="Arial"/>
              </a:rPr>
              <a:t>Le reviewer garde le droit de bloquer une slide sans message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