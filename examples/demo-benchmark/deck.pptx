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7373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Arial"/>
              </a:rPr>
              <a:t>Benchmark exhibits for grid-driven decks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2895" cy="7315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Layout demonstration · every bank, vendor and figure on these slides is fictitious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data show a retail market split between national leaders and cross-border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02920" cy="152704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417320"/>
            <a:ext cx="10637215" cy="1527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National leaders hold the largest share of retail customers in each market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The market map sizes each bank by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54096"/>
            <a:ext cx="502920" cy="152704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054096"/>
            <a:ext cx="10637215" cy="1527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Cross-border groups use one KYC vendor across all their markets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The bank by solution matrix shows the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90872"/>
            <a:ext cx="502920" cy="1527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18288" rIns="18288" tIns="14630" bIns="1463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90872"/>
            <a:ext cx="10637215" cy="1527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37160" rIns="137160" tIns="109728" bIns="109728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Vendor coverage stays unknown for a third of the banks studied</a:t>
            </a:r>
          </a:p>
          <a:p>
            <a:pPr algn="l" marL="164592" indent="-164592">
              <a:spcBef>
                <a:spcPts val="300"/>
              </a:spcBef>
              <a:buChar char="–"/>
            </a:pPr>
            <a:r>
              <a:rPr sz="1400" b="0" i="0">
                <a:solidFill>
                  <a:srgbClr val="595959"/>
                </a:solidFill>
                <a:latin typeface="Arial"/>
              </a:rPr>
              <a:t>Cells marked n.d. show the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national leaders hold most retail customers in the sample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" y="1458468"/>
            <a:ext cx="3532409" cy="24155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Bank Alpha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31m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" y="3901412"/>
            <a:ext cx="3532409" cy="186387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Bank Beta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24m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8189" y="1458468"/>
            <a:ext cx="749260" cy="43068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Bank Gamma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12m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89746" y="1458468"/>
            <a:ext cx="1933967" cy="19366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Group Delta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14m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1145" y="1458468"/>
            <a:ext cx="1233467" cy="19366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Group Epsilon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9m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89746" y="3477463"/>
            <a:ext cx="1981102" cy="1470677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Mutual Zeta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Arial"/>
              </a:rPr>
              <a:t>11m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9746" y="4975573"/>
            <a:ext cx="1981102" cy="789718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Mutual Eta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A1A1A"/>
                </a:solidFill>
                <a:latin typeface="Arial"/>
              </a:rPr>
              <a:t>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53144" y="3477463"/>
            <a:ext cx="1131467" cy="113019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Neo Theta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53144" y="4635093"/>
            <a:ext cx="667907" cy="113019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t" wrap="square" lIns="45720" rIns="45720" tIns="36576" bIns="36576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Neo Iota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  <a:latin typeface="Arial"/>
              </a:rPr>
              <a:t>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48484" y="4635093"/>
            <a:ext cx="436127" cy="113019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98932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16168"/>
            <a:ext cx="1371600" cy="310896"/>
          </a:xfrm>
          <a:prstGeom prst="rect">
            <a:avLst/>
          </a:prstGeom>
          <a:noFill/>
        </p:spPr>
        <p:txBody>
          <a:bodyPr wrap="square" anchor="ctr" lIns="18288" rIns="18288" tIns="14630" bIns="14630">
            <a:no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National leaders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5989320"/>
            <a:ext cx="164592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5916168"/>
            <a:ext cx="1577340" cy="310896"/>
          </a:xfrm>
          <a:prstGeom prst="rect">
            <a:avLst/>
          </a:prstGeom>
          <a:noFill/>
        </p:spPr>
        <p:txBody>
          <a:bodyPr wrap="square" anchor="ctr" lIns="18288" rIns="18288" tIns="14630" bIns="14630">
            <a:no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Cross-border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3339" y="5989320"/>
            <a:ext cx="164592" cy="164592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507" y="5916168"/>
            <a:ext cx="1303020" cy="310896"/>
          </a:xfrm>
          <a:prstGeom prst="rect">
            <a:avLst/>
          </a:prstGeom>
          <a:noFill/>
        </p:spPr>
        <p:txBody>
          <a:bodyPr wrap="square" anchor="ctr" lIns="18288" rIns="18288" tIns="14630" bIns="14630">
            <a:no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Mutual networks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59" y="5989320"/>
            <a:ext cx="164592" cy="16459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7" y="5916168"/>
            <a:ext cx="822959" cy="310896"/>
          </a:xfrm>
          <a:prstGeom prst="rect">
            <a:avLst/>
          </a:prstGeom>
          <a:noFill/>
        </p:spPr>
        <p:txBody>
          <a:bodyPr wrap="square" anchor="ctr" lIns="18288" rIns="18288" tIns="14630" bIns="14630">
            <a:no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Neobanks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0080" y="1417320"/>
            <a:ext cx="3334414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Three national leaders hold 67m customers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Bank Alpha leads with 31m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0080" y="3886200"/>
            <a:ext cx="3334414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Neobanks remain below 5m each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Their combined base reaches 10m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cross-border groups use one KYC vendor across their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7288" cy="4480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112481"/>
                <a:gridCol w="1112481"/>
                <a:gridCol w="1112481"/>
                <a:gridCol w="1112481"/>
                <a:gridCol w="1112481"/>
                <a:gridCol w="1112481"/>
                <a:gridCol w="1112481"/>
                <a:gridCol w="1112481"/>
              </a:tblGrid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Bank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Onboarding</a:t>
                      </a:r>
                    </a:p>
                  </a:txBody>
                  <a:tcPr anchor="ctr" marL="45720" marR="45720" marT="9144" marB="9144">
                    <a:solidFill>
                      <a:srgbClr val="1F4E7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Screening</a:t>
                      </a:r>
                    </a:p>
                  </a:txBody>
                  <a:tcPr anchor="ctr" marL="45720" marR="45720" marT="9144" marB="9144">
                    <a:solidFill>
                      <a:srgbClr val="7F7F7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Indicators</a:t>
                      </a:r>
                    </a:p>
                  </a:txBody>
                  <a:tcPr anchor="ctr" marL="45720" marR="45720" marT="9144" marB="9144">
                    <a:solidFill>
                      <a:srgbClr val="1F4E7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Vendor A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Vendor B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In-house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Vendor C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Vendor D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Countries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Customers (m)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Share of sample</a:t>
                      </a:r>
                    </a:p>
                  </a:txBody>
                  <a:tcPr anchor="ctr" marL="45720" marR="45720" marT="9144" marB="9144">
                    <a:solidFill>
                      <a:srgbClr val="F2F2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298704">
                <a:tc gridSpan="9"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"/>
                        </a:rPr>
                        <a:t>National leaders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Bank Alpha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Bank Beta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Bank Gamma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 gridSpan="9"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"/>
                        </a:rPr>
                        <a:t>Cross-border groups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"/>
                        </a:rPr>
                        <a:t>Group Delta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Group Epsilon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 gridSpan="9"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"/>
                        </a:rPr>
                        <a:t>Mutual networks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Mutual Zeta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Mutual Eta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 gridSpan="9"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"/>
                        </a:rPr>
                        <a:t>Neobanks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A1A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Neo Theta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Neo Iota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70C0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71032"/>
            <a:ext cx="11277295" cy="2743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● uses the solution · ○ does not · n.d. no public data · Blue: computed by the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Group Delta runs one onboarding vendor in its six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5431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984248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Retail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31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14m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551176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57200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Onboarding vendor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31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118104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57200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Screening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31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685032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7200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Share of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31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Arial"/>
              </a:rPr>
              <a:t>12%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4251960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" y="425196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Last vendor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31" y="425196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n.d.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4818888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57200" y="4864607"/>
            <a:ext cx="4736463" cy="2743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Blue: computed by the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7983" y="141732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One vendor serves all six markets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group contracts centrally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Local entities keep their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7983" y="388620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vendor change date stays unknown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public record found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Group Epsilon splits onboarding and screening between two vendors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5431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984248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Retail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31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9m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551176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57200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Onboarding vendor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31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118104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57200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Screening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31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685032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7200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Share of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31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Arial"/>
              </a:rPr>
              <a:t>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4251960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" y="425196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Last vendor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31" y="425196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n.d.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4818888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57200" y="4864607"/>
            <a:ext cx="4736463" cy="2743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Blue: computed by the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7983" y="141732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Two vendors split the KYC chain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Onboarding and screening run apart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7983" y="388620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The split predates the group's expansion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Fictitious annual report 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9601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Fictitious Neo Theta covers nine markets with a cloud onboarding vendor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27648"/>
            <a:ext cx="10362895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Source: Fictitious data illustrating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327648"/>
            <a:ext cx="731520" cy="365760"/>
          </a:xfrm>
          <a:prstGeom prst="rect">
            <a:avLst/>
          </a:prstGeom>
          <a:noFill/>
        </p:spPr>
        <p:txBody>
          <a:bodyPr wrap="square" anchor="b" lIns="18288" rIns="18288" tIns="14630" bIns="1463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5431" y="1417320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984248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Retail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31" y="1984248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5m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551176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57200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Onboarding vendor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31" y="2551176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118104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57200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Screening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31" y="3118104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Vendor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685032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7200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Share of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31" y="3685032"/>
            <a:ext cx="2368231" cy="566928"/>
          </a:xfrm>
          <a:prstGeom prst="rect">
            <a:avLst/>
          </a:prstGeom>
          <a:noFill/>
        </p:spPr>
        <p:txBody>
          <a:bodyPr wrap="square" anchor="ctr" lIns="45720" rIns="45720" tIns="36576" bIns="36576">
            <a:no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Arial"/>
              </a:rPr>
              <a:t>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4251960"/>
            <a:ext cx="473646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" y="4297680"/>
            <a:ext cx="4736463" cy="274320"/>
          </a:xfrm>
          <a:prstGeom prst="rect">
            <a:avLst/>
          </a:prstGeom>
          <a:noFill/>
        </p:spPr>
        <p:txBody>
          <a:bodyPr wrap="square" anchor="t" lIns="18288" rIns="18288" tIns="14630" bIns="1463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Blue: computed by the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7983" y="141732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Nine markets run on one cloud stack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Onboarding stays fully digital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7983" y="3886200"/>
            <a:ext cx="6266511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Customer base stays below national leaders</a:t>
            </a:r>
          </a:p>
          <a:p>
            <a:pPr algn="l" marL="164592" indent="-164592">
              <a:spcBef>
                <a:spcPts val="500"/>
              </a:spcBef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5m customers across nine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