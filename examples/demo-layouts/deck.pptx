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tokens</c:v>
                </c:pt>
              </c:strCache>
            </c:strRef>
          </c:tx>
          <c:spPr>
            <a:solidFill>
              <a:srgbClr val="1F4E79"/>
            </a:solidFill>
          </c:spPr>
          <c:dPt>
            <c:idx val="5"/>
            <c:spPr>
              <a:solidFill>
                <a:srgbClr val="1F4E79"/>
              </a:solidFill>
            </c:spPr>
          </c:dPt>
          <c:dPt>
            <c:idx val="4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0"/>
            <c:spPr>
              <a:solidFill>
                <a:srgbClr val="A6A6A6"/>
              </a:solidFill>
            </c:spPr>
          </c:dPt>
          <c:cat>
            <c:strRef>
              <c:f>Sheet1!$A$2:$A$7</c:f>
              <c:strCache>
                <c:ptCount val="6"/>
                <c:pt idx="0">
                  <c:v>Build</c:v>
                </c:pt>
                <c:pt idx="1">
                  <c:v>Research</c:v>
                </c:pt>
                <c:pt idx="2">
                  <c:v>Ghost deck</c:v>
                </c:pt>
                <c:pt idx="3">
                  <c:v>Source reading</c:v>
                </c:pt>
                <c:pt idx="4">
                  <c:v>Storyboard</c:v>
                </c:pt>
                <c:pt idx="5">
                  <c:v>Reviews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15</c:v>
                </c:pt>
                <c:pt idx="4">
                  <c:v>20</c:v>
                </c:pt>
                <c:pt idx="5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Current time</c:v>
                </c:pt>
                <c:pt idx="1">
                  <c:v>Drafting</c:v>
                </c:pt>
                <c:pt idx="2">
                  <c:v>Layout</c:v>
                </c:pt>
                <c:pt idx="3">
                  <c:v>Reviews</c:v>
                </c:pt>
                <c:pt idx="4">
                  <c:v>Target 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5.0</c:v>
                </c:pt>
                <c:pt idx="2">
                  <c:v>3.0</c:v>
                </c:pt>
                <c:pt idx="3">
                  <c:v>3.0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7F7F7F"/>
              </a:solidFill>
            </c:spPr>
          </c:dPt>
          <c:dPt>
            <c:idx val="4"/>
            <c:spPr>
              <a:solidFill>
                <a:srgbClr val="1F4E79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10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1A1A1A"/>
                        </a:solidFill>
                      </a:rPr>
                      <a:t>−5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1A1A1A"/>
                        </a:solidFill>
                      </a:rPr>
                      <a:t>−2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FFFFFF"/>
                        </a:solidFill>
                      </a:rPr>
                      <a:t>+2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5 h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Current time</c:v>
                </c:pt>
                <c:pt idx="1">
                  <c:v>Drafting</c:v>
                </c:pt>
                <c:pt idx="2">
                  <c:v>Layout</c:v>
                </c:pt>
                <c:pt idx="3">
                  <c:v>Reviews</c:v>
                </c:pt>
                <c:pt idx="4">
                  <c:v>Target time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10.0</c:v>
                </c:pt>
                <c:pt idx="1">
                  <c:v>5.0</c:v>
                </c:pt>
                <c:pt idx="2">
                  <c:v>2.0</c:v>
                </c:pt>
                <c:pt idx="3">
                  <c:v>2.0</c:v>
                </c:pt>
                <c:pt idx="4">
                  <c:v>5.0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Written after the storyboard passed gate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7373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Arial"/>
              </a:rPr>
              <a:t>An agent team builds consulting decks around the reader's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62895" cy="7315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Layout demonstration deck · figures on chart slides are fictitious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agent team turns source documents into decks that answer the reader's questions in priority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02920" cy="111785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417320"/>
            <a:ext cx="10637215" cy="111785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The reader's questions set the order of the deck, and the sources supply the proof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Framing captures the questions and their priority before any agent starts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The ghost deck follows that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44902"/>
            <a:ext cx="502920" cy="111785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644902"/>
            <a:ext cx="10637215" cy="111785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Every fact on a slide survives an independent challenge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A fact-checker traces each claim to its primary source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Unverified facts leave the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72483"/>
            <a:ext cx="502920" cy="111785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872483"/>
            <a:ext cx="10637215" cy="111785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Three review gates keep the pyramid intact from deck to sentence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A reviewer who did not write the deck judges it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A linter clears mechanical errors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00066"/>
            <a:ext cx="502920" cy="111785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100066"/>
            <a:ext cx="10637215" cy="111785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The executive summary comes last and states every takeaway of the deck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Its bold lines read as the full argument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deck shifts from summarising documents to answering the reader's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4998567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Today's deck follows the order of the documents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slide summarises one source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reader searches for what concerns him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Titles name a 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417320"/>
            <a:ext cx="4998567" cy="4800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The target deck follows the order of the reader's questions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slide answers one question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Sources prove the answer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Titles alone tell the story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38647" y="3406139"/>
            <a:ext cx="914400" cy="8229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1487" y="4320540"/>
            <a:ext cx="1188720" cy="109728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Ghost deck approved before any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Seven steps separate the request from the final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417320"/>
            <a:ext cx="1673743" cy="685800"/>
          </a:xfrm>
          <a:prstGeom prst="homePlat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Goal and audience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Reader's questions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076079" y="1417320"/>
            <a:ext cx="1673743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6079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Source takeaways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Targeted research</a:t>
            </a:r>
          </a:p>
        </p:txBody>
      </p:sp>
      <p:sp>
        <p:nvSpPr>
          <p:cNvPr id="8" name="Chevron 7"/>
          <p:cNvSpPr/>
          <p:nvPr/>
        </p:nvSpPr>
        <p:spPr>
          <a:xfrm>
            <a:off x="3694959" y="1417320"/>
            <a:ext cx="1673743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Fact-check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94959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Primary sources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Independent confirmation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5313839" y="1417320"/>
            <a:ext cx="1673743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Ghost deck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3839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Buckets by question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Linked titles</a:t>
            </a:r>
          </a:p>
        </p:txBody>
      </p:sp>
      <p:sp>
        <p:nvSpPr>
          <p:cNvPr id="12" name="Chevron 11"/>
          <p:cNvSpPr/>
          <p:nvPr/>
        </p:nvSpPr>
        <p:spPr>
          <a:xfrm>
            <a:off x="6932719" y="1417320"/>
            <a:ext cx="1673743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Storyboard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2719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Block content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Slide design</a:t>
            </a:r>
          </a:p>
        </p:txBody>
      </p:sp>
      <p:sp>
        <p:nvSpPr>
          <p:cNvPr id="14" name="Chevron 13"/>
          <p:cNvSpPr/>
          <p:nvPr/>
        </p:nvSpPr>
        <p:spPr>
          <a:xfrm>
            <a:off x="8551599" y="1417320"/>
            <a:ext cx="1673743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51599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Pyramid at each level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Logical writing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10170479" y="1417320"/>
            <a:ext cx="1564015" cy="6858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 tIns="36576" bIns="36576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70479" y="2286000"/>
            <a:ext cx="1564015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Executive summary last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File and render check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ghost deck sorts information into buckets that each answer one reader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94660"/>
            <a:ext cx="2377440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Should we industrialise deck production?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381762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08960" y="2156460"/>
            <a:ext cx="0" cy="332232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08960" y="215646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383280" y="1417320"/>
            <a:ext cx="2926080" cy="14782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Does the need exist?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2156460"/>
            <a:ext cx="457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1417320"/>
            <a:ext cx="4967935" cy="1478279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Volume of decks produced</a:t>
            </a:r>
          </a:p>
          <a:p>
            <a:pPr algn="l" marL="164592" indent="-164592">
              <a:spcBef>
                <a:spcPts val="3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Time spent per deck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81762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83280" y="3078479"/>
            <a:ext cx="2926080" cy="14782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Does the solution work?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9360" y="3817620"/>
            <a:ext cx="457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66560" y="3078479"/>
            <a:ext cx="4967935" cy="1478279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Quality of titles</a:t>
            </a:r>
          </a:p>
          <a:p>
            <a:pPr algn="l" marL="164592" indent="-164592">
              <a:spcBef>
                <a:spcPts val="3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Respect of the pyramid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5478780"/>
            <a:ext cx="27432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83280" y="4739639"/>
            <a:ext cx="2926080" cy="14782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What does it take?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5478780"/>
            <a:ext cx="457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66560" y="4739639"/>
            <a:ext cx="4967935" cy="1478279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Prototyping time</a:t>
            </a:r>
          </a:p>
          <a:p>
            <a:pPr algn="l" marL="164592" indent="-164592">
              <a:spcBef>
                <a:spcPts val="3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Tool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Three cross-cutting checks apply the pyramid and logical writing at every level of the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37178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deck carries one governing thought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Titles read in sequence form the storyline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 idea returns from one slide to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7258" y="1417320"/>
            <a:ext cx="3637178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slide covers its whole title and nothing else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element of the title finds its proof in the body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body stays within the title's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7316" y="1417320"/>
            <a:ext cx="3637178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Each block answers one question with one idea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Its title states the idea the text details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sentence stays in the active voice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Each agent delivers one file that the next agent reads without reopening the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source reader delivers takeaways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41732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opens with what the reader must retain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keeps the page reference of every figure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583180"/>
            <a:ext cx="780257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265176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fact-checker delivers verified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5176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traces each claim to its origin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strikes what it cannot confirm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3817620"/>
            <a:ext cx="780257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88620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architect delivers the ghost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88620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writes the governing thought and the titles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links each title to a reader 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5052060"/>
            <a:ext cx="780257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5120640"/>
            <a:ext cx="329184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visual director delivers the storyboard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20640"/>
            <a:ext cx="7802575" cy="1097280"/>
          </a:xfrm>
          <a:prstGeom prst="rect">
            <a:avLst/>
          </a:prstGeom>
          <a:noFill/>
        </p:spPr>
        <p:txBody>
          <a:bodyPr wrap="square" anchor="ctr" tIns="73152" bIns="73152">
            <a:noAutofit/>
          </a:bodyPr>
          <a:lstStyle/>
          <a:p>
            <a:pPr algn="l" marL="164592" indent="-164592"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writes the blocks of each slide</a:t>
            </a:r>
          </a:p>
          <a:p>
            <a:pPr algn="l" marL="164592" indent="-164592">
              <a:spcBef>
                <a:spcPts val="4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picks the design that shows the logical relation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Prompt effort concentrates on high-value steps that scripts handle poorly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417320" y="3291839"/>
            <a:ext cx="4114800" cy="36576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ctr"/>
            <a:r>
              <a:rPr sz="1100" b="1" i="0">
                <a:solidFill>
                  <a:srgbClr val="595959"/>
                </a:solidFill>
                <a:latin typeface="Arial"/>
              </a:rPr>
              <a:t>Value to the reader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59"/>
            <a:ext cx="54864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Low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98448" y="1417320"/>
            <a:ext cx="0" cy="4114800"/>
          </a:xfrm>
          <a:prstGeom prst="line">
            <a:avLst/>
          </a:prstGeom>
          <a:ln w="1587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98448" y="5605272"/>
            <a:ext cx="6150675" cy="0"/>
          </a:xfrm>
          <a:prstGeom prst="line">
            <a:avLst/>
          </a:prstGeom>
          <a:ln w="1587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71600" y="5669280"/>
            <a:ext cx="6077523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ctr"/>
            <a:r>
              <a:rPr sz="1100" b="1" i="0">
                <a:solidFill>
                  <a:srgbClr val="595959"/>
                </a:solidFill>
                <a:latin typeface="Arial"/>
              </a:rPr>
              <a:t>Ease of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1371600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7523" y="5669280"/>
            <a:ext cx="1371600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417320"/>
            <a:ext cx="2993041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Invest in prompts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Ghost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Pyramid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6081" y="1417320"/>
            <a:ext cx="2993041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Automate first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Source reading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Writing linter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20440"/>
            <a:ext cx="2993041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Keep human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Final approval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6081" y="3520440"/>
            <a:ext cx="2993041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Script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.pptx generation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PNG rendering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3443" y="141732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ghost deck decides final quality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weak storyline survives any layout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3443" y="388620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Layout belongs to the script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generator applies the house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Claude Code plugin gives each step its own agent and outscores the sequential claude.ai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77294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32096"/>
                <a:gridCol w="4172599"/>
                <a:gridCol w="417259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anchor="ctr" marL="91440" marR="91440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Arial"/>
                        </a:rPr>
                        <a:t>Claude Code plugin</a:t>
                      </a:r>
                    </a:p>
                  </a:txBody>
                  <a:tcPr anchor="ctr" marL="91440" marR="91440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claude.ai skill</a:t>
                      </a:r>
                    </a:p>
                  </a:txBody>
                  <a:tcPr anchor="ctr" marL="91440" marR="91440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Separate agents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Independent reviewer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.pptx generation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Ease of setup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5347580" y="2249424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20179" y="224942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9520179" y="2249424"/>
            <a:ext cx="256032" cy="256032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47580" y="2889504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0179" y="288950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9520179" y="2889504"/>
            <a:ext cx="256032" cy="25603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7580" y="3529583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20179" y="3529583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9520179" y="3529583"/>
            <a:ext cx="256032" cy="256032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7580" y="4169663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5347580" y="4169663"/>
            <a:ext cx="256032" cy="25603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0179" y="4169663"/>
            <a:ext cx="256032" cy="25603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9296" y="1417320"/>
            <a:ext cx="4172599" cy="320040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11277295" cy="3200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Full circle: full coverage · empty circle: no coverage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In the fictitious example, review gates consume the largest share of pipeline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766377" cy="5486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The three review gates account for 40% of tokens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6766377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97897" y="1417320"/>
            <a:ext cx="4236598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Reviews reread the whole storyboard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gate reloads the produced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7897" y="3886200"/>
            <a:ext cx="4236598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linter lowers review cost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clears mechanical rules before the reviewer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In the fictitious example, the pipeline halves the time spent producing one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5074782" cy="2011680"/>
          </a:xfrm>
          <a:prstGeom prst="rect">
            <a:avLst/>
          </a:prstGeom>
          <a:noFill/>
        </p:spPr>
        <p:txBody>
          <a:bodyPr wrap="square" anchor="b" lIns="45720" rIns="45720" tIns="36576" bIns="36576">
            <a:noAutofit/>
          </a:bodyPr>
          <a:lstStyle/>
          <a:p>
            <a:pPr algn="ctr"/>
            <a:r>
              <a:rPr sz="8000" b="1" i="0">
                <a:solidFill>
                  <a:srgbClr val="1F4E79"/>
                </a:solidFill>
                <a:latin typeface="Arial"/>
              </a:rPr>
              <a:t>-50%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4526142" cy="13716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no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  <a:latin typeface="Arial"/>
              </a:rPr>
              <a:t>production time per deck, fictitious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302" y="1417320"/>
            <a:ext cx="592819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Drafting concentrates the gain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ghost deck prevents late rewrites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302" y="3886200"/>
            <a:ext cx="592819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Reviews add an accepted cost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They replace back-and-forth with the 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In the fictitious example, drafting gains outweigh the time that reviews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991923" cy="54864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Drafting saves five hours and reviews cost two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6991923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723443" y="141732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Drafting concentrates the gain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ghost deck prevents late rewrites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3443" y="3886200"/>
            <a:ext cx="401105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Reviews add an accepted cost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They replace manager back-and-forth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In the fictitious example, the fact-check removes most unverified claims before the ghost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6766377" cy="113157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tIns="73152" bIns="73152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Claims collected  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7451" y="2640330"/>
            <a:ext cx="5525874" cy="113157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tIns="73152" bIns="73152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Traced to origin  85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7702" y="3863340"/>
            <a:ext cx="4285372" cy="113157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tIns="73152" bIns="73152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Independently confirmed  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7953" y="5086350"/>
            <a:ext cx="3044869" cy="113157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tIns="73152" bIns="73152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Used on slides 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7897" y="1417320"/>
            <a:ext cx="4236598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Tracing removes the largest share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Many claims rest on a secondary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7897" y="3886200"/>
            <a:ext cx="4236598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deck uses a fifth of confirmed facts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ghost deck keeps what answers a reader question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interviewees expect decks that answer their questions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quotes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2331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417320"/>
            <a:ext cx="6129360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82880" rIns="182880" tIns="146304" bIns="146304">
            <a:no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Arial"/>
              </a:rPr>
              <a:t>“I read the titles and the summary, and I decide from there.”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95959"/>
                </a:solidFill>
                <a:latin typeface="Arial"/>
              </a:rPr>
              <a:t>Fictitious CFO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86200"/>
            <a:ext cx="73152" cy="2331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3886200"/>
            <a:ext cx="6129360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82880" rIns="182880" tIns="146304" bIns="146304">
            <a:no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Arial"/>
              </a:rPr>
              <a:t>“When a slide summarises a report, I ask what it means for us.”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95959"/>
                </a:solidFill>
                <a:latin typeface="Arial"/>
              </a:rPr>
              <a:t>Fictitious COO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032" y="1417320"/>
            <a:ext cx="480046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Readers decide from titles and summary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body serves as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4032" y="3886200"/>
            <a:ext cx="480046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Readers want implications for them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summary without a so-what fails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roadmap takes the tool from slide generator to automated partner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7200" y="1417320"/>
            <a:ext cx="11277295" cy="4572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82880" rIns="182880" tIns="146304" bIns="146304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Value to the consultant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21608"/>
            <a:ext cx="3637178" cy="2496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V1 structures the reasoning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Brief, takeaways, ghost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Storyboard without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7258" y="2889503"/>
            <a:ext cx="3637178" cy="33284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V2 produces the file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.pptx generation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White background and grey boxes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7316" y="2057400"/>
            <a:ext cx="3637178" cy="4160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V3 critiques the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Flags useless slides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Flags unproven claims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prototype takes four weeks from role prompts to the first real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Project planning assumption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417320"/>
            <a:ext cx="2014651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27432" rIns="27432" tIns="21945" bIns="21945">
            <a:no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Week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8243" y="1417320"/>
            <a:ext cx="2014651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27432" rIns="27432" tIns="21945" bIns="21945">
            <a:no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Week 2</a:t>
            </a:r>
          </a:p>
        </p:txBody>
      </p:sp>
      <p:sp>
        <p:nvSpPr>
          <p:cNvPr id="7" name="Rectangle 6"/>
          <p:cNvSpPr/>
          <p:nvPr/>
        </p:nvSpPr>
        <p:spPr>
          <a:xfrm>
            <a:off x="7650327" y="1417320"/>
            <a:ext cx="2014651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27432" rIns="27432" tIns="21945" bIns="21945">
            <a:no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Week 3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411" y="1417320"/>
            <a:ext cx="2014651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27432" rIns="27432" tIns="21945" bIns="21945">
            <a:no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Role prompts and references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377440"/>
            <a:ext cx="11277295" cy="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11879" y="1965960"/>
            <a:ext cx="1950643" cy="27432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Generator and linter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926080"/>
            <a:ext cx="11277295" cy="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1879" y="2514600"/>
            <a:ext cx="3992727" cy="27432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Fact-check calibration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474720"/>
            <a:ext cx="11277295" cy="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653963" y="3063240"/>
            <a:ext cx="3992727" cy="27432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Review gates calibration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4023359"/>
            <a:ext cx="11277295" cy="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696047" y="3611879"/>
            <a:ext cx="1950643" cy="27432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First real deck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4572000"/>
            <a:ext cx="11277295" cy="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738131" y="4160520"/>
            <a:ext cx="1950643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Go or no-go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5120640"/>
            <a:ext cx="11277295" cy="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10576293" y="4709160"/>
            <a:ext cx="274320" cy="274320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Each prototype week closes on one deliverable that the next week builds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Project planning assumption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103120"/>
            <a:ext cx="11277295" cy="0"/>
          </a:xfrm>
          <a:prstGeom prst="line">
            <a:avLst/>
          </a:prstGeom>
          <a:ln w="31750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Arial"/>
              </a:rPr>
              <a:t>Week 1</a:t>
            </a:r>
          </a:p>
        </p:txBody>
      </p:sp>
      <p:sp>
        <p:nvSpPr>
          <p:cNvPr id="7" name="Oval 6"/>
          <p:cNvSpPr/>
          <p:nvPr/>
        </p:nvSpPr>
        <p:spPr>
          <a:xfrm>
            <a:off x="1697697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Role prompts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Roles and references written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2243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Arial"/>
              </a:rPr>
              <a:t>Week 2</a:t>
            </a:r>
          </a:p>
        </p:txBody>
      </p:sp>
      <p:sp>
        <p:nvSpPr>
          <p:cNvPr id="10" name="Oval 9"/>
          <p:cNvSpPr/>
          <p:nvPr/>
        </p:nvSpPr>
        <p:spPr>
          <a:xfrm>
            <a:off x="4562741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Generator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Layouts and linter 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Arial"/>
              </a:rPr>
              <a:t>Week 3</a:t>
            </a:r>
          </a:p>
        </p:txBody>
      </p:sp>
      <p:sp>
        <p:nvSpPr>
          <p:cNvPr id="13" name="Oval 12"/>
          <p:cNvSpPr/>
          <p:nvPr/>
        </p:nvSpPr>
        <p:spPr>
          <a:xfrm>
            <a:off x="7427785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Reviews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Gates calibrated on three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331" y="1417320"/>
            <a:ext cx="2682163" cy="50292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Arial"/>
              </a:rPr>
              <a:t>Week 4</a:t>
            </a:r>
          </a:p>
        </p:txBody>
      </p:sp>
      <p:sp>
        <p:nvSpPr>
          <p:cNvPr id="16" name="Oval 15"/>
          <p:cNvSpPr/>
          <p:nvPr/>
        </p:nvSpPr>
        <p:spPr>
          <a:xfrm>
            <a:off x="10292829" y="2002536"/>
            <a:ext cx="201168" cy="20116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331" y="2377439"/>
            <a:ext cx="2682163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First real deck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 on a live topic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Building every deck from the reader's questions secures decks that decision makers act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228600" rIns="228600" tIns="182880" bIns="18288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Run every deck through framing, fact-check and the three review gates before any slide reaches a client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75789" y="2560320"/>
            <a:ext cx="0" cy="27431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834639"/>
            <a:ext cx="3637178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Framing fixes the order of ideas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reader's questions come first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2560320"/>
            <a:ext cx="0" cy="27431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77258" y="2834639"/>
            <a:ext cx="3637178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fact-check secures every claim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Primary sources or two independent ones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15906" y="2560320"/>
            <a:ext cx="0" cy="274319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097316" y="2834639"/>
            <a:ext cx="3637178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Gates protect the pyramid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separate reviewer judges each level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Three conditions decide the quality of the system beyond its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480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74320" rIns="274320" tIns="219456" bIns="219456">
            <a:noAutofit/>
          </a:bodyPr>
          <a:lstStyle/>
          <a:p>
            <a:pPr algn="l"/>
            <a:r>
              <a:rPr sz="1750" b="1" i="0">
                <a:solidFill>
                  <a:srgbClr val="1A1A1A"/>
                </a:solidFill>
                <a:latin typeface="Arial"/>
              </a:rPr>
              <a:t>The system is worth what its inputs and its checks are worth</a:t>
            </a:r>
          </a:p>
          <a:p>
            <a:pPr algn="l" marL="164592" indent="-164592">
              <a:spcBef>
                <a:spcPts val="800"/>
              </a:spcBef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Framing obtains the reader's real questions before any drafting</a:t>
            </a:r>
          </a:p>
          <a:p>
            <a:pPr algn="l" marL="164592" indent="-164592">
              <a:spcBef>
                <a:spcPts val="800"/>
              </a:spcBef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sources provided contain the proof the deck asserts</a:t>
            </a:r>
          </a:p>
          <a:p>
            <a:pPr algn="l" marL="164592" indent="-164592">
              <a:spcBef>
                <a:spcPts val="800"/>
              </a:spcBef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reviewer keeps the right to block a slide without a message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