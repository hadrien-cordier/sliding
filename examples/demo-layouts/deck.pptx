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tokens</c:v>
                </c:pt>
              </c:strCache>
            </c:strRef>
          </c:tx>
          <c:spPr>
            <a:solidFill>
              <a:srgbClr val="1F4E79"/>
            </a:solidFill>
          </c:spPr>
          <c:dPt>
            <c:idx val="5"/>
            <c:spPr>
              <a:solidFill>
                <a:srgbClr val="1F4E79"/>
              </a:solidFill>
            </c:spPr>
          </c:dPt>
          <c:dPt>
            <c:idx val="4"/>
            <c:spPr>
              <a:solidFill>
                <a:srgbClr val="A6A6A6"/>
              </a:solidFill>
            </c:spPr>
          </c:dPt>
          <c:dPt>
            <c:idx val="3"/>
            <c:spPr>
              <a:solidFill>
                <a:srgbClr val="A6A6A6"/>
              </a:solidFill>
            </c:spPr>
          </c:dPt>
          <c:dPt>
            <c:idx val="2"/>
            <c:spPr>
              <a:solidFill>
                <a:srgbClr val="A6A6A6"/>
              </a:solidFill>
            </c:spPr>
          </c:dPt>
          <c:dPt>
            <c:idx val="1"/>
            <c:spPr>
              <a:solidFill>
                <a:srgbClr val="A6A6A6"/>
              </a:solidFill>
            </c:spPr>
          </c:dPt>
          <c:dPt>
            <c:idx val="0"/>
            <c:spPr>
              <a:solidFill>
                <a:srgbClr val="A6A6A6"/>
              </a:solidFill>
            </c:spPr>
          </c:dPt>
          <c:cat>
            <c:strRef>
              <c:f>Sheet1!$A$2:$A$7</c:f>
              <c:strCache>
                <c:ptCount val="6"/>
                <c:pt idx="0">
                  <c:v>Build</c:v>
                </c:pt>
                <c:pt idx="1">
                  <c:v>Research</c:v>
                </c:pt>
                <c:pt idx="2">
                  <c:v>Ghost deck</c:v>
                </c:pt>
                <c:pt idx="3">
                  <c:v>Source reading</c:v>
                </c:pt>
                <c:pt idx="4">
                  <c:v>Storyboard</c:v>
                </c:pt>
                <c:pt idx="5">
                  <c:v>Reviews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</c:v>
                </c:pt>
                <c:pt idx="1">
                  <c:v>8</c:v>
                </c:pt>
                <c:pt idx="2">
                  <c:v>12</c:v>
                </c:pt>
                <c:pt idx="3">
                  <c:v>15</c:v>
                </c:pt>
                <c:pt idx="4">
                  <c:v>20</c:v>
                </c:pt>
                <c:pt idx="5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A1A1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Current time</c:v>
                </c:pt>
                <c:pt idx="1">
                  <c:v>Drafting</c:v>
                </c:pt>
                <c:pt idx="2">
                  <c:v>Layout</c:v>
                </c:pt>
                <c:pt idx="3">
                  <c:v>Reviews</c:v>
                </c:pt>
                <c:pt idx="4">
                  <c:v>Target time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5.0</c:v>
                </c:pt>
                <c:pt idx="2">
                  <c:v>3.0</c:v>
                </c:pt>
                <c:pt idx="3">
                  <c:v>3.0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1F4E79"/>
              </a:solidFill>
            </c:spPr>
          </c:dPt>
          <c:dPt>
            <c:idx val="1"/>
            <c:spPr>
              <a:solidFill>
                <a:srgbClr val="BFBFBF"/>
              </a:solidFill>
            </c:spPr>
          </c:dPt>
          <c:dPt>
            <c:idx val="2"/>
            <c:spPr>
              <a:solidFill>
                <a:srgbClr val="BFBFBF"/>
              </a:solidFill>
            </c:spPr>
          </c:dPt>
          <c:dPt>
            <c:idx val="3"/>
            <c:spPr>
              <a:solidFill>
                <a:srgbClr val="7F7F7F"/>
              </a:solidFill>
            </c:spPr>
          </c:dPt>
          <c:dPt>
            <c:idx val="4"/>
            <c:spPr>
              <a:solidFill>
                <a:srgbClr val="1F4E79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FFFFF"/>
                        </a:solidFill>
                      </a:rPr>
                      <a:t>10 h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0">
                        <a:solidFill>
                          <a:srgbClr val="1A1A1A"/>
                        </a:solidFill>
                      </a:rPr>
                      <a:t>−5 h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0">
                        <a:solidFill>
                          <a:srgbClr val="1A1A1A"/>
                        </a:solidFill>
                      </a:rPr>
                      <a:t>−2 h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100" b="0">
                        <a:solidFill>
                          <a:srgbClr val="FFFFFF"/>
                        </a:solidFill>
                      </a:rPr>
                      <a:t>+2 h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FFFFF"/>
                        </a:solidFill>
                      </a:rPr>
                      <a:t>5 h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Current time</c:v>
                </c:pt>
                <c:pt idx="1">
                  <c:v>Drafting</c:v>
                </c:pt>
                <c:pt idx="2">
                  <c:v>Layout</c:v>
                </c:pt>
                <c:pt idx="3">
                  <c:v>Reviews</c:v>
                </c:pt>
                <c:pt idx="4">
                  <c:v>Target time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10.0</c:v>
                </c:pt>
                <c:pt idx="1">
                  <c:v>5.0</c:v>
                </c:pt>
                <c:pt idx="2">
                  <c:v>2.0</c:v>
                </c:pt>
                <c:pt idx="3">
                  <c:v>2.0</c:v>
                </c:pt>
                <c:pt idx="4">
                  <c:v>5.0</c:v>
                </c:pt>
              </c:numCache>
            </c:numRef>
          </c:val>
        </c:ser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Written after the storyboard passed gate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62895" cy="17373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Arial"/>
              </a:rPr>
              <a:t>An agent team builds consulting decks around the reader's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977639"/>
            <a:ext cx="10362895" cy="73152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l"/>
            <a:r>
              <a:rPr sz="1600" b="0" i="0">
                <a:solidFill>
                  <a:srgbClr val="595959"/>
                </a:solidFill>
                <a:latin typeface="Arial"/>
              </a:rPr>
              <a:t>Layout demonstration deck · figures on chart slides are fictitious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96012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The agent team turns source documents into decks that answer the reader's questions in priority 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2975" y="6327648"/>
            <a:ext cx="731520" cy="3657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17320"/>
            <a:ext cx="502920" cy="1117854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txBody>
          <a:bodyPr rtlCol="0" anchor="ctr" wrap="square" lIns="18288" rIns="18288" tIns="14630" bIns="14630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417320"/>
            <a:ext cx="10637215" cy="111785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37160" rIns="137160" tIns="109728" bIns="109728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The reader's questions set the order of the deck, and the sources supply the proof</a:t>
            </a:r>
          </a:p>
          <a:p>
            <a:pPr algn="l" marL="164592" indent="-164592">
              <a:spcBef>
                <a:spcPts val="300"/>
              </a:spcBef>
              <a:buChar char="–"/>
            </a:pPr>
            <a:r>
              <a:rPr sz="1400" b="0" i="0">
                <a:solidFill>
                  <a:srgbClr val="595959"/>
                </a:solidFill>
                <a:latin typeface="Arial"/>
              </a:rPr>
              <a:t>Framing captures the questions and their priority before any agent starts</a:t>
            </a:r>
          </a:p>
          <a:p>
            <a:pPr algn="l" marL="164592" indent="-164592">
              <a:spcBef>
                <a:spcPts val="300"/>
              </a:spcBef>
              <a:buChar char="–"/>
            </a:pPr>
            <a:r>
              <a:rPr sz="1400" b="0" i="0">
                <a:solidFill>
                  <a:srgbClr val="595959"/>
                </a:solidFill>
                <a:latin typeface="Arial"/>
              </a:rPr>
              <a:t>The ghost deck follows that order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44902"/>
            <a:ext cx="502920" cy="1117854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txBody>
          <a:bodyPr rtlCol="0" anchor="ctr" wrap="square" lIns="18288" rIns="18288" tIns="14630" bIns="14630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2644902"/>
            <a:ext cx="10637215" cy="111785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37160" rIns="137160" tIns="109728" bIns="109728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Every fact on a slide survives an independent challenge</a:t>
            </a:r>
          </a:p>
          <a:p>
            <a:pPr algn="l" marL="164592" indent="-164592">
              <a:spcBef>
                <a:spcPts val="300"/>
              </a:spcBef>
              <a:buChar char="–"/>
            </a:pPr>
            <a:r>
              <a:rPr sz="1400" b="0" i="0">
                <a:solidFill>
                  <a:srgbClr val="595959"/>
                </a:solidFill>
                <a:latin typeface="Arial"/>
              </a:rPr>
              <a:t>A fact-checker traces each claim to its primary source</a:t>
            </a:r>
          </a:p>
          <a:p>
            <a:pPr algn="l" marL="164592" indent="-164592">
              <a:spcBef>
                <a:spcPts val="300"/>
              </a:spcBef>
              <a:buChar char="–"/>
            </a:pPr>
            <a:r>
              <a:rPr sz="1400" b="0" i="0">
                <a:solidFill>
                  <a:srgbClr val="595959"/>
                </a:solidFill>
                <a:latin typeface="Arial"/>
              </a:rPr>
              <a:t>Unverified facts leave the deck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872483"/>
            <a:ext cx="502920" cy="111785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 wrap="square" lIns="18288" rIns="18288" tIns="14630" bIns="14630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872483"/>
            <a:ext cx="10637215" cy="111785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37160" rIns="137160" tIns="109728" bIns="109728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Three review gates keep the pyramid intact from deck to sentence</a:t>
            </a:r>
          </a:p>
          <a:p>
            <a:pPr algn="l" marL="164592" indent="-164592">
              <a:spcBef>
                <a:spcPts val="300"/>
              </a:spcBef>
              <a:buChar char="–"/>
            </a:pPr>
            <a:r>
              <a:rPr sz="1400" b="0" i="0">
                <a:solidFill>
                  <a:srgbClr val="595959"/>
                </a:solidFill>
                <a:latin typeface="Arial"/>
              </a:rPr>
              <a:t>A reviewer who did not write the deck judges it</a:t>
            </a:r>
          </a:p>
          <a:p>
            <a:pPr algn="l" marL="164592" indent="-164592">
              <a:spcBef>
                <a:spcPts val="300"/>
              </a:spcBef>
              <a:buChar char="–"/>
            </a:pPr>
            <a:r>
              <a:rPr sz="1400" b="0" i="0">
                <a:solidFill>
                  <a:srgbClr val="595959"/>
                </a:solidFill>
                <a:latin typeface="Arial"/>
              </a:rPr>
              <a:t>A linter clears mechanical errors first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100066"/>
            <a:ext cx="502920" cy="1117854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txBody>
          <a:bodyPr rtlCol="0" anchor="ctr" wrap="square" lIns="18288" rIns="18288" tIns="14630" bIns="14630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5100066"/>
            <a:ext cx="10637215" cy="111785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37160" rIns="137160" tIns="109728" bIns="109728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The executive summary comes last and states every takeaway of the deck</a:t>
            </a:r>
          </a:p>
          <a:p>
            <a:pPr algn="l" marL="164592" indent="-164592">
              <a:spcBef>
                <a:spcPts val="300"/>
              </a:spcBef>
              <a:buChar char="–"/>
            </a:pPr>
            <a:r>
              <a:rPr sz="1400" b="0" i="0">
                <a:solidFill>
                  <a:srgbClr val="595959"/>
                </a:solidFill>
                <a:latin typeface="Arial"/>
              </a:rPr>
              <a:t>Its bold lines read as the full argument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96012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The deck shifts from summarising documents to answering the reader's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2975" y="6327648"/>
            <a:ext cx="731520" cy="3657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17320"/>
            <a:ext cx="4998567" cy="4800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Today's deck follows the order of the documents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Each slide summarises one source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The reader searches for what concerns him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Titles name a topic</a:t>
            </a:r>
          </a:p>
        </p:txBody>
      </p:sp>
      <p:sp>
        <p:nvSpPr>
          <p:cNvPr id="5" name="Rectangle 4"/>
          <p:cNvSpPr/>
          <p:nvPr/>
        </p:nvSpPr>
        <p:spPr>
          <a:xfrm>
            <a:off x="6735927" y="1417320"/>
            <a:ext cx="4998567" cy="4800600"/>
          </a:xfrm>
          <a:prstGeom prst="rect">
            <a:avLst/>
          </a:prstGeom>
          <a:solidFill>
            <a:srgbClr val="F2F2F2"/>
          </a:solidFill>
          <a:ln w="12700">
            <a:solidFill>
              <a:srgbClr val="1F4E79"/>
            </a:solidFill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  <a:latin typeface="Arial"/>
              </a:rPr>
              <a:t>The target deck follows the order of the reader's questions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Each slide answers one question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Sources prove the answer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Titles alone tell the story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638647" y="3406139"/>
            <a:ext cx="914400" cy="82296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01487" y="4320540"/>
            <a:ext cx="1188720" cy="109728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ctr"/>
            <a:r>
              <a:rPr sz="1000" b="0" i="0">
                <a:solidFill>
                  <a:srgbClr val="595959"/>
                </a:solidFill>
                <a:latin typeface="Arial"/>
              </a:rPr>
              <a:t>Ghost deck approved before any slide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96012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Seven steps separate the request from the final 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2975" y="6327648"/>
            <a:ext cx="731520" cy="3657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sp>
        <p:nvSpPr>
          <p:cNvPr id="4" name="Pentagon 3"/>
          <p:cNvSpPr/>
          <p:nvPr/>
        </p:nvSpPr>
        <p:spPr>
          <a:xfrm>
            <a:off x="457200" y="1417320"/>
            <a:ext cx="1673743" cy="685800"/>
          </a:xfrm>
          <a:prstGeom prst="homePlate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 wrap="square" lIns="45720" rIns="45720" tIns="36576" bIns="36576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Framing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1564015" cy="39319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 marL="164592" indent="-164592"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Goal and audience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Reader's questions</a:t>
            </a:r>
          </a:p>
        </p:txBody>
      </p:sp>
      <p:sp>
        <p:nvSpPr>
          <p:cNvPr id="6" name="Chevron 5"/>
          <p:cNvSpPr/>
          <p:nvPr/>
        </p:nvSpPr>
        <p:spPr>
          <a:xfrm>
            <a:off x="2076079" y="1417320"/>
            <a:ext cx="1673743" cy="685800"/>
          </a:xfrm>
          <a:prstGeom prst="chevron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 wrap="square" lIns="45720" rIns="45720" tIns="36576" bIns="36576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Material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2076079" y="2286000"/>
            <a:ext cx="1564015" cy="39319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 marL="164592" indent="-164592"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Source takeaways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Targeted research</a:t>
            </a:r>
          </a:p>
        </p:txBody>
      </p:sp>
      <p:sp>
        <p:nvSpPr>
          <p:cNvPr id="8" name="Chevron 7"/>
          <p:cNvSpPr/>
          <p:nvPr/>
        </p:nvSpPr>
        <p:spPr>
          <a:xfrm>
            <a:off x="3694959" y="1417320"/>
            <a:ext cx="1673743" cy="685800"/>
          </a:xfrm>
          <a:prstGeom prst="chevron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 wrap="square" lIns="45720" rIns="45720" tIns="36576" bIns="36576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Fact-check</a:t>
            </a:r>
          </a:p>
        </p:txBody>
      </p:sp>
      <p:sp>
        <p:nvSpPr>
          <p:cNvPr id="9" name="Rectangle 8"/>
          <p:cNvSpPr/>
          <p:nvPr/>
        </p:nvSpPr>
        <p:spPr>
          <a:xfrm>
            <a:off x="3694959" y="2286000"/>
            <a:ext cx="1564015" cy="39319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 marL="164592" indent="-164592"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Primary sources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Independent confirmation</a:t>
            </a:r>
          </a:p>
        </p:txBody>
      </p:sp>
      <p:sp>
        <p:nvSpPr>
          <p:cNvPr id="10" name="Chevron 9"/>
          <p:cNvSpPr/>
          <p:nvPr/>
        </p:nvSpPr>
        <p:spPr>
          <a:xfrm>
            <a:off x="5313839" y="1417320"/>
            <a:ext cx="1673743" cy="685800"/>
          </a:xfrm>
          <a:prstGeom prst="chevron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 wrap="square" lIns="45720" rIns="45720" tIns="36576" bIns="36576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Ghost deck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13839" y="2286000"/>
            <a:ext cx="1564015" cy="39319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 marL="164592" indent="-164592"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Buckets by question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Linked titles</a:t>
            </a:r>
          </a:p>
        </p:txBody>
      </p:sp>
      <p:sp>
        <p:nvSpPr>
          <p:cNvPr id="12" name="Chevron 11"/>
          <p:cNvSpPr/>
          <p:nvPr/>
        </p:nvSpPr>
        <p:spPr>
          <a:xfrm>
            <a:off x="6932719" y="1417320"/>
            <a:ext cx="1673743" cy="685800"/>
          </a:xfrm>
          <a:prstGeom prst="chevron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 wrap="square" lIns="45720" rIns="45720" tIns="36576" bIns="36576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Storyboard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32719" y="2286000"/>
            <a:ext cx="1564015" cy="39319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 marL="164592" indent="-164592"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Block content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Slide design</a:t>
            </a:r>
          </a:p>
        </p:txBody>
      </p:sp>
      <p:sp>
        <p:nvSpPr>
          <p:cNvPr id="14" name="Chevron 13"/>
          <p:cNvSpPr/>
          <p:nvPr/>
        </p:nvSpPr>
        <p:spPr>
          <a:xfrm>
            <a:off x="8551599" y="1417320"/>
            <a:ext cx="1673743" cy="685800"/>
          </a:xfrm>
          <a:prstGeom prst="chevron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 wrap="square" lIns="45720" rIns="45720" tIns="36576" bIns="36576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Reviews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51599" y="2286000"/>
            <a:ext cx="1564015" cy="39319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 marL="164592" indent="-164592"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Pyramid at each level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Logical writing</a:t>
            </a:r>
          </a:p>
        </p:txBody>
      </p:sp>
      <p:sp>
        <p:nvSpPr>
          <p:cNvPr id="16" name="Chevron 15"/>
          <p:cNvSpPr/>
          <p:nvPr/>
        </p:nvSpPr>
        <p:spPr>
          <a:xfrm>
            <a:off x="10170479" y="1417320"/>
            <a:ext cx="1564015" cy="685800"/>
          </a:xfrm>
          <a:prstGeom prst="chevron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 wrap="square" lIns="45720" rIns="45720" tIns="36576" bIns="36576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170479" y="2286000"/>
            <a:ext cx="1564015" cy="39319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 marL="164592" indent="-164592"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Executive summary last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File and render check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96012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The ghost deck sorts information into buckets that each answer one reader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2975" y="6327648"/>
            <a:ext cx="731520" cy="3657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5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994660"/>
            <a:ext cx="2377440" cy="16459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Should we industrialise deck production?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834640" y="3817620"/>
            <a:ext cx="274320" cy="0"/>
          </a:xfrm>
          <a:prstGeom prst="line">
            <a:avLst/>
          </a:prstGeom>
          <a:ln w="15875">
            <a:solidFill>
              <a:srgbClr val="7F7F7F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3108960" y="2156460"/>
            <a:ext cx="0" cy="3322320"/>
          </a:xfrm>
          <a:prstGeom prst="line">
            <a:avLst/>
          </a:prstGeom>
          <a:ln w="15875">
            <a:solidFill>
              <a:srgbClr val="7F7F7F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108960" y="2156460"/>
            <a:ext cx="274320" cy="0"/>
          </a:xfrm>
          <a:prstGeom prst="line">
            <a:avLst/>
          </a:prstGeom>
          <a:ln w="15875">
            <a:solidFill>
              <a:srgbClr val="7F7F7F"/>
            </a:solidFill>
          </a:ln>
        </p:spPr>
      </p:cxnSp>
      <p:sp>
        <p:nvSpPr>
          <p:cNvPr id="8" name="Rectangle 7"/>
          <p:cNvSpPr/>
          <p:nvPr/>
        </p:nvSpPr>
        <p:spPr>
          <a:xfrm>
            <a:off x="3383280" y="1417320"/>
            <a:ext cx="2926080" cy="1478279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37160" rIns="137160" tIns="109728" bIns="109728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Does the need exist?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309360" y="2156460"/>
            <a:ext cx="457200" cy="0"/>
          </a:xfrm>
          <a:prstGeom prst="line">
            <a:avLst/>
          </a:prstGeom>
          <a:ln w="15875">
            <a:solidFill>
              <a:srgbClr val="7F7F7F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6766560" y="1417320"/>
            <a:ext cx="4967935" cy="1478279"/>
          </a:xfrm>
          <a:prstGeom prst="rect">
            <a:avLst/>
          </a:prstGeom>
          <a:noFill/>
        </p:spPr>
        <p:txBody>
          <a:bodyPr wrap="square" anchor="ctr" tIns="73152" bIns="73152">
            <a:noAutofit/>
          </a:bodyPr>
          <a:lstStyle/>
          <a:p>
            <a:pPr algn="l" marL="164592" indent="-164592">
              <a:buChar char="•"/>
            </a:pPr>
            <a:r>
              <a:rPr sz="1300" b="0" i="0">
                <a:solidFill>
                  <a:srgbClr val="1A1A1A"/>
                </a:solidFill>
                <a:latin typeface="Arial"/>
              </a:rPr>
              <a:t>Volume of decks produced</a:t>
            </a:r>
          </a:p>
          <a:p>
            <a:pPr algn="l" marL="164592" indent="-164592">
              <a:spcBef>
                <a:spcPts val="300"/>
              </a:spcBef>
              <a:buChar char="•"/>
            </a:pPr>
            <a:r>
              <a:rPr sz="1300" b="0" i="0">
                <a:solidFill>
                  <a:srgbClr val="1A1A1A"/>
                </a:solidFill>
                <a:latin typeface="Arial"/>
              </a:rPr>
              <a:t>Time spent per deck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08960" y="3817620"/>
            <a:ext cx="274320" cy="0"/>
          </a:xfrm>
          <a:prstGeom prst="line">
            <a:avLst/>
          </a:prstGeom>
          <a:ln w="15875">
            <a:solidFill>
              <a:srgbClr val="7F7F7F"/>
            </a:solidFill>
          </a:ln>
        </p:spPr>
      </p:cxnSp>
      <p:sp>
        <p:nvSpPr>
          <p:cNvPr id="12" name="Rectangle 11"/>
          <p:cNvSpPr/>
          <p:nvPr/>
        </p:nvSpPr>
        <p:spPr>
          <a:xfrm>
            <a:off x="3383280" y="3078479"/>
            <a:ext cx="2926080" cy="1478279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37160" rIns="137160" tIns="109728" bIns="109728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Does the solution work?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09360" y="3817620"/>
            <a:ext cx="457200" cy="0"/>
          </a:xfrm>
          <a:prstGeom prst="line">
            <a:avLst/>
          </a:prstGeom>
          <a:ln w="15875">
            <a:solidFill>
              <a:srgbClr val="7F7F7F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6766560" y="3078479"/>
            <a:ext cx="4967935" cy="1478279"/>
          </a:xfrm>
          <a:prstGeom prst="rect">
            <a:avLst/>
          </a:prstGeom>
          <a:noFill/>
        </p:spPr>
        <p:txBody>
          <a:bodyPr wrap="square" anchor="ctr" tIns="73152" bIns="73152">
            <a:noAutofit/>
          </a:bodyPr>
          <a:lstStyle/>
          <a:p>
            <a:pPr algn="l" marL="164592" indent="-164592">
              <a:buChar char="•"/>
            </a:pPr>
            <a:r>
              <a:rPr sz="1300" b="0" i="0">
                <a:solidFill>
                  <a:srgbClr val="1A1A1A"/>
                </a:solidFill>
                <a:latin typeface="Arial"/>
              </a:rPr>
              <a:t>Quality of titles</a:t>
            </a:r>
          </a:p>
          <a:p>
            <a:pPr algn="l" marL="164592" indent="-164592">
              <a:spcBef>
                <a:spcPts val="300"/>
              </a:spcBef>
              <a:buChar char="•"/>
            </a:pPr>
            <a:r>
              <a:rPr sz="1300" b="0" i="0">
                <a:solidFill>
                  <a:srgbClr val="1A1A1A"/>
                </a:solidFill>
                <a:latin typeface="Arial"/>
              </a:rPr>
              <a:t>Respect of the pyramid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08960" y="5478780"/>
            <a:ext cx="274320" cy="0"/>
          </a:xfrm>
          <a:prstGeom prst="line">
            <a:avLst/>
          </a:prstGeom>
          <a:ln w="15875">
            <a:solidFill>
              <a:srgbClr val="7F7F7F"/>
            </a:solidFill>
          </a:ln>
        </p:spPr>
      </p:cxnSp>
      <p:sp>
        <p:nvSpPr>
          <p:cNvPr id="16" name="Rectangle 15"/>
          <p:cNvSpPr/>
          <p:nvPr/>
        </p:nvSpPr>
        <p:spPr>
          <a:xfrm>
            <a:off x="3383280" y="4739639"/>
            <a:ext cx="2926080" cy="1478279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37160" rIns="137160" tIns="109728" bIns="109728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What does it take?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309360" y="5478780"/>
            <a:ext cx="457200" cy="0"/>
          </a:xfrm>
          <a:prstGeom prst="line">
            <a:avLst/>
          </a:prstGeom>
          <a:ln w="15875">
            <a:solidFill>
              <a:srgbClr val="7F7F7F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6766560" y="4739639"/>
            <a:ext cx="4967935" cy="1478279"/>
          </a:xfrm>
          <a:prstGeom prst="rect">
            <a:avLst/>
          </a:prstGeom>
          <a:noFill/>
        </p:spPr>
        <p:txBody>
          <a:bodyPr wrap="square" anchor="ctr" tIns="73152" bIns="73152">
            <a:noAutofit/>
          </a:bodyPr>
          <a:lstStyle/>
          <a:p>
            <a:pPr algn="l" marL="164592" indent="-164592">
              <a:buChar char="•"/>
            </a:pPr>
            <a:r>
              <a:rPr sz="1300" b="0" i="0">
                <a:solidFill>
                  <a:srgbClr val="1A1A1A"/>
                </a:solidFill>
                <a:latin typeface="Arial"/>
              </a:rPr>
              <a:t>Prototyping time</a:t>
            </a:r>
          </a:p>
          <a:p>
            <a:pPr algn="l" marL="164592" indent="-164592">
              <a:spcBef>
                <a:spcPts val="300"/>
              </a:spcBef>
              <a:buChar char="•"/>
            </a:pPr>
            <a:r>
              <a:rPr sz="1300" b="0" i="0">
                <a:solidFill>
                  <a:srgbClr val="1A1A1A"/>
                </a:solidFill>
                <a:latin typeface="Arial"/>
              </a:rPr>
              <a:t>Tool access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96012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Three cross-cutting checks apply the pyramid and logical writing at every level of the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2975" y="6327648"/>
            <a:ext cx="731520" cy="3657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17320"/>
            <a:ext cx="3637178" cy="4800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The deck carries one governing thought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Titles read in sequence form the storyline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No idea returns from one slide to the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4277258" y="1417320"/>
            <a:ext cx="3637178" cy="4800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The slide covers its whole title and nothing else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Every element of the title finds its proof in the body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The body stays within the title's scope</a:t>
            </a:r>
          </a:p>
        </p:txBody>
      </p:sp>
      <p:sp>
        <p:nvSpPr>
          <p:cNvPr id="6" name="Rectangle 5"/>
          <p:cNvSpPr/>
          <p:nvPr/>
        </p:nvSpPr>
        <p:spPr>
          <a:xfrm>
            <a:off x="8097316" y="1417320"/>
            <a:ext cx="3637178" cy="4800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Each block answers one question with one idea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Its title states the idea the text details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Every sentence stays in the active voice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96012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Each agent delivers one file that the next agent reads without reopening the 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2975" y="6327648"/>
            <a:ext cx="731520" cy="3657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7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17320"/>
            <a:ext cx="3291840" cy="10972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The source reader delivers takeaways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1417320"/>
            <a:ext cx="7802575" cy="1097280"/>
          </a:xfrm>
          <a:prstGeom prst="rect">
            <a:avLst/>
          </a:prstGeom>
          <a:noFill/>
        </p:spPr>
        <p:txBody>
          <a:bodyPr wrap="square" anchor="ctr" tIns="73152" bIns="73152">
            <a:noAutofit/>
          </a:bodyPr>
          <a:lstStyle/>
          <a:p>
            <a:pPr algn="l" marL="164592" indent="-164592"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It opens with what the reader must retain</a:t>
            </a:r>
          </a:p>
          <a:p>
            <a:pPr algn="l" marL="164592" indent="-164592">
              <a:spcBef>
                <a:spcPts val="4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It keeps the page reference of every figure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931920" y="2583180"/>
            <a:ext cx="7802575" cy="0"/>
          </a:xfrm>
          <a:prstGeom prst="line">
            <a:avLst/>
          </a:prstGeom>
          <a:ln w="12700">
            <a:solidFill>
              <a:srgbClr val="BFBFBF"/>
            </a:solidFill>
          </a:ln>
        </p:spPr>
      </p:cxnSp>
      <p:sp>
        <p:nvSpPr>
          <p:cNvPr id="7" name="Rectangle 6"/>
          <p:cNvSpPr/>
          <p:nvPr/>
        </p:nvSpPr>
        <p:spPr>
          <a:xfrm>
            <a:off x="457200" y="2651760"/>
            <a:ext cx="3291840" cy="10972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The fact-checker delivers verified claims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2651760"/>
            <a:ext cx="7802575" cy="1097280"/>
          </a:xfrm>
          <a:prstGeom prst="rect">
            <a:avLst/>
          </a:prstGeom>
          <a:noFill/>
        </p:spPr>
        <p:txBody>
          <a:bodyPr wrap="square" anchor="ctr" tIns="73152" bIns="73152">
            <a:noAutofit/>
          </a:bodyPr>
          <a:lstStyle/>
          <a:p>
            <a:pPr algn="l" marL="164592" indent="-164592"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It traces each claim to its origin</a:t>
            </a:r>
          </a:p>
          <a:p>
            <a:pPr algn="l" marL="164592" indent="-164592">
              <a:spcBef>
                <a:spcPts val="4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It strikes what it cannot confirm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931920" y="3817620"/>
            <a:ext cx="7802575" cy="0"/>
          </a:xfrm>
          <a:prstGeom prst="line">
            <a:avLst/>
          </a:prstGeom>
          <a:ln w="12700">
            <a:solidFill>
              <a:srgbClr val="BFBFBF"/>
            </a:solidFill>
          </a:ln>
        </p:spPr>
      </p:cxnSp>
      <p:sp>
        <p:nvSpPr>
          <p:cNvPr id="10" name="Rectangle 9"/>
          <p:cNvSpPr/>
          <p:nvPr/>
        </p:nvSpPr>
        <p:spPr>
          <a:xfrm>
            <a:off x="457200" y="3886200"/>
            <a:ext cx="3291840" cy="10972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The architect delivers the ghost deck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3886200"/>
            <a:ext cx="7802575" cy="1097280"/>
          </a:xfrm>
          <a:prstGeom prst="rect">
            <a:avLst/>
          </a:prstGeom>
          <a:noFill/>
        </p:spPr>
        <p:txBody>
          <a:bodyPr wrap="square" anchor="ctr" tIns="73152" bIns="73152">
            <a:noAutofit/>
          </a:bodyPr>
          <a:lstStyle/>
          <a:p>
            <a:pPr algn="l" marL="164592" indent="-164592"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It writes the governing thought and the titles</a:t>
            </a:r>
          </a:p>
          <a:p>
            <a:pPr algn="l" marL="164592" indent="-164592">
              <a:spcBef>
                <a:spcPts val="4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It links each title to a reader question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931920" y="5052060"/>
            <a:ext cx="7802575" cy="0"/>
          </a:xfrm>
          <a:prstGeom prst="line">
            <a:avLst/>
          </a:prstGeom>
          <a:ln w="12700">
            <a:solidFill>
              <a:srgbClr val="BFBFBF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457200" y="5120640"/>
            <a:ext cx="3291840" cy="10972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The visual director delivers the storyboard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5120640"/>
            <a:ext cx="7802575" cy="1097280"/>
          </a:xfrm>
          <a:prstGeom prst="rect">
            <a:avLst/>
          </a:prstGeom>
          <a:noFill/>
        </p:spPr>
        <p:txBody>
          <a:bodyPr wrap="square" anchor="ctr" tIns="73152" bIns="73152">
            <a:noAutofit/>
          </a:bodyPr>
          <a:lstStyle/>
          <a:p>
            <a:pPr algn="l" marL="164592" indent="-164592"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It writes the blocks of each slide</a:t>
            </a:r>
          </a:p>
          <a:p>
            <a:pPr algn="l" marL="164592" indent="-164592">
              <a:spcBef>
                <a:spcPts val="4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It picks the design that shows the logical relation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96012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Prompt effort concentrates on high-value steps that scripts handle poorly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2975" y="6327648"/>
            <a:ext cx="731520" cy="3657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 rot="16200000">
            <a:off x="-1417320" y="3291839"/>
            <a:ext cx="4114800" cy="36576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ctr"/>
            <a:r>
              <a:rPr sz="1100" b="1" i="0">
                <a:solidFill>
                  <a:srgbClr val="595959"/>
                </a:solidFill>
                <a:latin typeface="Arial"/>
              </a:rPr>
              <a:t>Value to the reader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548640" cy="36576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High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166359"/>
            <a:ext cx="548640" cy="3657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Low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1298448" y="1417320"/>
            <a:ext cx="0" cy="4114800"/>
          </a:xfrm>
          <a:prstGeom prst="line">
            <a:avLst/>
          </a:prstGeom>
          <a:ln w="15875">
            <a:solidFill>
              <a:srgbClr val="7F7F7F"/>
            </a:solidFill>
            <a:tailEnd type="triangle"/>
          </a:ln>
        </p:spPr>
      </p:cxnSp>
      <p:cxnSp>
        <p:nvCxnSpPr>
          <p:cNvPr id="8" name="Connector 7"/>
          <p:cNvCxnSpPr/>
          <p:nvPr/>
        </p:nvCxnSpPr>
        <p:spPr>
          <a:xfrm>
            <a:off x="1298448" y="5605272"/>
            <a:ext cx="6150675" cy="0"/>
          </a:xfrm>
          <a:prstGeom prst="line">
            <a:avLst/>
          </a:prstGeom>
          <a:ln w="15875">
            <a:solidFill>
              <a:srgbClr val="7F7F7F"/>
            </a:solidFill>
            <a:tailEnd type="triangle"/>
          </a:ln>
        </p:spPr>
      </p:cxnSp>
      <p:sp>
        <p:nvSpPr>
          <p:cNvPr id="9" name="TextBox 8"/>
          <p:cNvSpPr txBox="1"/>
          <p:nvPr/>
        </p:nvSpPr>
        <p:spPr>
          <a:xfrm>
            <a:off x="1371600" y="5669280"/>
            <a:ext cx="6077523" cy="32004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ctr"/>
            <a:r>
              <a:rPr sz="1100" b="1" i="0">
                <a:solidFill>
                  <a:srgbClr val="595959"/>
                </a:solidFill>
                <a:latin typeface="Arial"/>
              </a:rPr>
              <a:t>Ease of automation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669280"/>
            <a:ext cx="1371600" cy="32004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77523" y="5669280"/>
            <a:ext cx="1371600" cy="32004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High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1417320"/>
            <a:ext cx="2993041" cy="2011680"/>
          </a:xfrm>
          <a:prstGeom prst="rect">
            <a:avLst/>
          </a:prstGeom>
          <a:solidFill>
            <a:srgbClr val="F2F2F2"/>
          </a:solidFill>
          <a:ln w="12700">
            <a:solidFill>
              <a:srgbClr val="1F4E79"/>
            </a:solidFill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Arial"/>
              </a:rPr>
              <a:t>Invest in prompts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300" b="0" i="0">
                <a:solidFill>
                  <a:srgbClr val="1A1A1A"/>
                </a:solidFill>
                <a:latin typeface="Arial"/>
              </a:rPr>
              <a:t>Ghost deck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300" b="0" i="0">
                <a:solidFill>
                  <a:srgbClr val="1A1A1A"/>
                </a:solidFill>
                <a:latin typeface="Arial"/>
              </a:rPr>
              <a:t>Pyramid review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56081" y="1417320"/>
            <a:ext cx="2993041" cy="2011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Automate first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300" b="0" i="0">
                <a:solidFill>
                  <a:srgbClr val="1A1A1A"/>
                </a:solidFill>
                <a:latin typeface="Arial"/>
              </a:rPr>
              <a:t>Source reading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300" b="0" i="0">
                <a:solidFill>
                  <a:srgbClr val="1A1A1A"/>
                </a:solidFill>
                <a:latin typeface="Arial"/>
              </a:rPr>
              <a:t>Writing linter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3520440"/>
            <a:ext cx="2993041" cy="2011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Keep human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300" b="0" i="0">
                <a:solidFill>
                  <a:srgbClr val="1A1A1A"/>
                </a:solidFill>
                <a:latin typeface="Arial"/>
              </a:rPr>
              <a:t>Final approval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56081" y="3520440"/>
            <a:ext cx="2993041" cy="2011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Script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300" b="0" i="0">
                <a:solidFill>
                  <a:srgbClr val="1A1A1A"/>
                </a:solidFill>
                <a:latin typeface="Arial"/>
              </a:rPr>
              <a:t>.pptx generation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300" b="0" i="0">
                <a:solidFill>
                  <a:srgbClr val="1A1A1A"/>
                </a:solidFill>
                <a:latin typeface="Arial"/>
              </a:rPr>
              <a:t>PNG rendering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23443" y="1417320"/>
            <a:ext cx="4011052" cy="23317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The ghost deck decides final quality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A weak storyline survives any layout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23443" y="3886200"/>
            <a:ext cx="4011052" cy="23317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Layout belongs to the script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The generator applies the house style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96012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The Claude Code plugin gives each step its own agent and outscores the sequential claude.ai skill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2975" y="6327648"/>
            <a:ext cx="731520" cy="3657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17320"/>
          <a:ext cx="11277294" cy="3200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932096"/>
                <a:gridCol w="4172599"/>
                <a:gridCol w="4172599"/>
              </a:tblGrid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Arial"/>
                        </a:rPr>
                        <a:t>Criterion</a:t>
                      </a:r>
                    </a:p>
                  </a:txBody>
                  <a:tcPr anchor="ctr" marL="91440" marR="91440">
                    <a:solidFill>
                      <a:srgbClr val="F2F2F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1A1A1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F4E79"/>
                          </a:solidFill>
                          <a:latin typeface="Arial"/>
                        </a:rPr>
                        <a:t>Claude Code plugin</a:t>
                      </a:r>
                    </a:p>
                  </a:txBody>
                  <a:tcPr anchor="ctr" marL="91440" marR="91440">
                    <a:solidFill>
                      <a:srgbClr val="F2F2F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1A1A1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1A1A"/>
                          </a:solidFill>
                          <a:latin typeface="Arial"/>
                        </a:rPr>
                        <a:t>claude.ai skill</a:t>
                      </a:r>
                    </a:p>
                  </a:txBody>
                  <a:tcPr anchor="ctr" marL="91440" marR="91440">
                    <a:solidFill>
                      <a:srgbClr val="F2F2F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1A1A1A"/>
                      </a:solidFill>
                    </a:lnB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Arial"/>
                        </a:rPr>
                        <a:t>Separate agents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Arial"/>
                        </a:rPr>
                        <a:t>Independent reviewer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Arial"/>
                        </a:rPr>
                        <a:t>.pptx generation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Arial"/>
                        </a:rPr>
                        <a:t>Ease of setup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Oval 4"/>
          <p:cNvSpPr/>
          <p:nvPr/>
        </p:nvSpPr>
        <p:spPr>
          <a:xfrm>
            <a:off x="5347580" y="2249424"/>
            <a:ext cx="256032" cy="256032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20179" y="2249424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Pie 6"/>
          <p:cNvSpPr/>
          <p:nvPr/>
        </p:nvSpPr>
        <p:spPr>
          <a:xfrm>
            <a:off x="9520179" y="2249424"/>
            <a:ext cx="256032" cy="256032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1A1A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347580" y="2889504"/>
            <a:ext cx="256032" cy="256032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520179" y="2889504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Pie 9"/>
          <p:cNvSpPr/>
          <p:nvPr/>
        </p:nvSpPr>
        <p:spPr>
          <a:xfrm>
            <a:off x="9520179" y="2889504"/>
            <a:ext cx="256032" cy="256032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1A1A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347580" y="3529583"/>
            <a:ext cx="256032" cy="256032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520179" y="3529583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Pie 12"/>
          <p:cNvSpPr/>
          <p:nvPr/>
        </p:nvSpPr>
        <p:spPr>
          <a:xfrm>
            <a:off x="9520179" y="3529583"/>
            <a:ext cx="256032" cy="256032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1A1A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347580" y="4169663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4E7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Pie 14"/>
          <p:cNvSpPr/>
          <p:nvPr/>
        </p:nvSpPr>
        <p:spPr>
          <a:xfrm>
            <a:off x="5347580" y="4169663"/>
            <a:ext cx="256032" cy="256032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1F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520179" y="4169663"/>
            <a:ext cx="256032" cy="25603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89296" y="1417320"/>
            <a:ext cx="4172599" cy="3200400"/>
          </a:xfrm>
          <a:prstGeom prst="rect">
            <a:avLst/>
          </a:prstGeom>
          <a:noFill/>
          <a:ln w="19050">
            <a:solidFill>
              <a:srgbClr val="1F4E7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709159"/>
            <a:ext cx="11277295" cy="32004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Full circle: full coverage · empty circle: no coverage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96012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In the fictitious example, review gates consume the largest share of pipeline tokens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27648"/>
            <a:ext cx="10362895" cy="3657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Source: Fictitious data illustrating the layout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327648"/>
            <a:ext cx="731520" cy="3657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6766377" cy="54864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Arial"/>
              </a:rPr>
              <a:t>The two review gates account for 40% of tokens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2011680"/>
          <a:ext cx="6766377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7497897" y="1417320"/>
            <a:ext cx="4236598" cy="23317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Reviews reread the whole storyboard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Each gate reloads the produced files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7897" y="3886200"/>
            <a:ext cx="4236598" cy="23317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The linter lowers review cost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It clears mechanical rules before the reviewer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96012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In the fictitious example, the pipeline halves the time spent producing one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27648"/>
            <a:ext cx="10362895" cy="3657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Source: Fictitious data illustrating the layout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327648"/>
            <a:ext cx="731520" cy="3657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65960"/>
            <a:ext cx="5074782" cy="2011680"/>
          </a:xfrm>
          <a:prstGeom prst="rect">
            <a:avLst/>
          </a:prstGeom>
          <a:noFill/>
        </p:spPr>
        <p:txBody>
          <a:bodyPr wrap="square" anchor="b" lIns="45720" rIns="45720" tIns="36576" bIns="36576">
            <a:noAutofit/>
          </a:bodyPr>
          <a:lstStyle/>
          <a:p>
            <a:pPr algn="ctr"/>
            <a:r>
              <a:rPr sz="8000" b="1" i="0">
                <a:solidFill>
                  <a:srgbClr val="1F4E79"/>
                </a:solidFill>
                <a:latin typeface="Arial"/>
              </a:rPr>
              <a:t>-50%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69080"/>
            <a:ext cx="4526142" cy="1371600"/>
          </a:xfrm>
          <a:prstGeom prst="rect">
            <a:avLst/>
          </a:prstGeom>
          <a:noFill/>
        </p:spPr>
        <p:txBody>
          <a:bodyPr wrap="square" anchor="t" lIns="45720" rIns="45720" tIns="36576" bIns="36576">
            <a:noAutofit/>
          </a:bodyPr>
          <a:lstStyle/>
          <a:p>
            <a:pPr algn="ctr"/>
            <a:r>
              <a:rPr sz="1800" b="0" i="0">
                <a:solidFill>
                  <a:srgbClr val="595959"/>
                </a:solidFill>
                <a:latin typeface="Arial"/>
              </a:rPr>
              <a:t>production time per deck, fictitious example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06302" y="1417320"/>
            <a:ext cx="5928192" cy="23317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Drafting concentrates the gain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The ghost deck prevents late rewrites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806302" y="3886200"/>
            <a:ext cx="5928192" cy="23317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Reviews add an accepted cost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They replace back-and-forth with the manager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96012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In the fictitious example, drafting gains outweigh the time that reviews add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27648"/>
            <a:ext cx="10362895" cy="3657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Source: Fictitious data illustrating the layout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327648"/>
            <a:ext cx="731520" cy="3657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6991923" cy="54864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Arial"/>
              </a:rPr>
              <a:t>Drafting saves five hours and reviews cost two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2011680"/>
          <a:ext cx="6991923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7723443" y="1417320"/>
            <a:ext cx="4011052" cy="23317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Drafting concentrates the gain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The ghost deck prevents late rewrites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23443" y="3886200"/>
            <a:ext cx="4011052" cy="23317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Reviews add an accepted cost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They replace manager back-and-forth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96012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In the fictitious example, the fact-check removes most unverified claims before the ghost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27648"/>
            <a:ext cx="10362895" cy="3657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Source: Fictitious data illustrating the layout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327648"/>
            <a:ext cx="731520" cy="3657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6766377" cy="113157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tIns="73152" bIns="73152">
            <a:no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Arial"/>
              </a:rPr>
              <a:t>Claims collected  120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7451" y="2640330"/>
            <a:ext cx="5525874" cy="113157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tIns="73152" bIns="73152">
            <a:no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Arial"/>
              </a:rPr>
              <a:t>Traced to origin  85</a:t>
            </a:r>
          </a:p>
        </p:txBody>
      </p:sp>
      <p:sp>
        <p:nvSpPr>
          <p:cNvPr id="7" name="Rectangle 6"/>
          <p:cNvSpPr/>
          <p:nvPr/>
        </p:nvSpPr>
        <p:spPr>
          <a:xfrm>
            <a:off x="1697702" y="3863340"/>
            <a:ext cx="4285372" cy="113157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 wrap="square" tIns="73152" bIns="73152">
            <a:no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Independently confirmed  60</a:t>
            </a:r>
          </a:p>
        </p:txBody>
      </p:sp>
      <p:sp>
        <p:nvSpPr>
          <p:cNvPr id="8" name="Rectangle 7"/>
          <p:cNvSpPr/>
          <p:nvPr/>
        </p:nvSpPr>
        <p:spPr>
          <a:xfrm>
            <a:off x="2317953" y="5086350"/>
            <a:ext cx="3044869" cy="113157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tIns="73152" bIns="73152">
            <a:no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Arial"/>
              </a:rPr>
              <a:t>Used on slides  24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7897" y="1417320"/>
            <a:ext cx="4236598" cy="23317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Tracing removes the largest share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Many claims rest on a secondary source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7897" y="3886200"/>
            <a:ext cx="4236598" cy="23317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The deck uses a fifth of confirmed facts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The ghost deck keeps what answers a reader question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96012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Fictitious interviewees expect decks that answer their questions first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27648"/>
            <a:ext cx="10362895" cy="3657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Source: Fictitious quotes illustrating the layout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327648"/>
            <a:ext cx="731520" cy="3657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73152" cy="23317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" y="1417320"/>
            <a:ext cx="6129360" cy="23317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82880" rIns="182880" tIns="146304" bIns="146304">
            <a:noAutofit/>
          </a:bodyPr>
          <a:lstStyle/>
          <a:p>
            <a:pPr algn="l"/>
            <a:r>
              <a:rPr sz="1500" b="0" i="1">
                <a:solidFill>
                  <a:srgbClr val="1A1A1A"/>
                </a:solidFill>
                <a:latin typeface="Arial"/>
              </a:rPr>
              <a:t>“I read the titles and the summary, and I decide from there.”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95959"/>
                </a:solidFill>
                <a:latin typeface="Arial"/>
              </a:rPr>
              <a:t>Fictitious CFO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886200"/>
            <a:ext cx="73152" cy="23317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3886200"/>
            <a:ext cx="6129360" cy="23317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82880" rIns="182880" tIns="146304" bIns="146304">
            <a:noAutofit/>
          </a:bodyPr>
          <a:lstStyle/>
          <a:p>
            <a:pPr algn="l"/>
            <a:r>
              <a:rPr sz="1500" b="0" i="1">
                <a:solidFill>
                  <a:srgbClr val="1A1A1A"/>
                </a:solidFill>
                <a:latin typeface="Arial"/>
              </a:rPr>
              <a:t>“When a slide summarises a report, I ask what it means for us.”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95959"/>
                </a:solidFill>
                <a:latin typeface="Arial"/>
              </a:rPr>
              <a:t>Fictitious COO</a:t>
            </a:r>
          </a:p>
        </p:txBody>
      </p:sp>
      <p:sp>
        <p:nvSpPr>
          <p:cNvPr id="9" name="Rectangle 8"/>
          <p:cNvSpPr/>
          <p:nvPr/>
        </p:nvSpPr>
        <p:spPr>
          <a:xfrm>
            <a:off x="6934032" y="1417320"/>
            <a:ext cx="4800462" cy="23317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Readers decide from titles and summary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The body serves as proof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34032" y="3886200"/>
            <a:ext cx="4800462" cy="23317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Readers want implications for them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A summary without a so-what fails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96012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The roadmap takes the tool from slide generator to automated partner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27648"/>
            <a:ext cx="10362895" cy="3657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Source: Project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327648"/>
            <a:ext cx="731520" cy="3657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15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57200" y="1417320"/>
            <a:ext cx="11277295" cy="45720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 wrap="square" lIns="182880" rIns="182880" tIns="146304" bIns="146304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Value to the consultant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721608"/>
            <a:ext cx="3637178" cy="2496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V1 structures the reasoning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Brief, takeaways, ghost deck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Storyboard without file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4277258" y="2889503"/>
            <a:ext cx="3637178" cy="332841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V2 produces the file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.pptx generation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White background and grey boxes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7316" y="2057400"/>
            <a:ext cx="3637178" cy="4160520"/>
          </a:xfrm>
          <a:prstGeom prst="rect">
            <a:avLst/>
          </a:prstGeom>
          <a:solidFill>
            <a:srgbClr val="F2F2F2"/>
          </a:solidFill>
          <a:ln w="12700">
            <a:solidFill>
              <a:srgbClr val="1F4E79"/>
            </a:solidFill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  <a:latin typeface="Arial"/>
              </a:rPr>
              <a:t>V3 critiques the deck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Flags useless slides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Flags unproven claims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96012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The prototype takes four weeks from role prompts to the first real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27648"/>
            <a:ext cx="10362895" cy="3657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Source: Project planning assumption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327648"/>
            <a:ext cx="731520" cy="3657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3566160" y="1417320"/>
            <a:ext cx="2014651" cy="411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27432" rIns="27432" tIns="21945" bIns="21945">
            <a:no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Arial"/>
              </a:rPr>
              <a:t>Week 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08243" y="1417320"/>
            <a:ext cx="2014651" cy="411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27432" rIns="27432" tIns="21945" bIns="21945">
            <a:no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Arial"/>
              </a:rPr>
              <a:t>Week 2</a:t>
            </a:r>
          </a:p>
        </p:txBody>
      </p:sp>
      <p:sp>
        <p:nvSpPr>
          <p:cNvPr id="7" name="Rectangle 6"/>
          <p:cNvSpPr/>
          <p:nvPr/>
        </p:nvSpPr>
        <p:spPr>
          <a:xfrm>
            <a:off x="7650327" y="1417320"/>
            <a:ext cx="2014651" cy="411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27432" rIns="27432" tIns="21945" bIns="21945">
            <a:no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Arial"/>
              </a:rPr>
              <a:t>Week 3</a:t>
            </a:r>
          </a:p>
        </p:txBody>
      </p:sp>
      <p:sp>
        <p:nvSpPr>
          <p:cNvPr id="8" name="Rectangle 7"/>
          <p:cNvSpPr/>
          <p:nvPr/>
        </p:nvSpPr>
        <p:spPr>
          <a:xfrm>
            <a:off x="9692411" y="1417320"/>
            <a:ext cx="2014651" cy="411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27432" rIns="27432" tIns="21945" bIns="21945">
            <a:no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Arial"/>
              </a:rPr>
              <a:t>Week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28800"/>
            <a:ext cx="3017520" cy="548640"/>
          </a:xfrm>
          <a:prstGeom prst="rect">
            <a:avLst/>
          </a:prstGeom>
          <a:noFill/>
        </p:spPr>
        <p:txBody>
          <a:bodyPr wrap="square" anchor="ctr" lIns="45720" rIns="45720" tIns="36576" bIns="36576">
            <a:no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Arial"/>
              </a:rPr>
              <a:t>Role prompts and references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2377440"/>
            <a:ext cx="11277295" cy="0"/>
          </a:xfrm>
          <a:prstGeom prst="line">
            <a:avLst/>
          </a:prstGeom>
          <a:ln w="12700">
            <a:solidFill>
              <a:srgbClr val="F2F2F2"/>
            </a:solidFill>
          </a:ln>
        </p:spPr>
      </p:cxnSp>
      <p:sp>
        <p:nvSpPr>
          <p:cNvPr id="11" name="Rectangle 10"/>
          <p:cNvSpPr/>
          <p:nvPr/>
        </p:nvSpPr>
        <p:spPr>
          <a:xfrm>
            <a:off x="3611879" y="1965960"/>
            <a:ext cx="1950643" cy="27432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377440"/>
            <a:ext cx="3017520" cy="548640"/>
          </a:xfrm>
          <a:prstGeom prst="rect">
            <a:avLst/>
          </a:prstGeom>
          <a:noFill/>
        </p:spPr>
        <p:txBody>
          <a:bodyPr wrap="square" anchor="ctr" lIns="45720" rIns="45720" tIns="36576" bIns="36576">
            <a:no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Arial"/>
              </a:rPr>
              <a:t>Generator and linter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7200" y="2926080"/>
            <a:ext cx="11277295" cy="0"/>
          </a:xfrm>
          <a:prstGeom prst="line">
            <a:avLst/>
          </a:prstGeom>
          <a:ln w="12700">
            <a:solidFill>
              <a:srgbClr val="F2F2F2"/>
            </a:solidFill>
          </a:ln>
        </p:spPr>
      </p:cxnSp>
      <p:sp>
        <p:nvSpPr>
          <p:cNvPr id="14" name="Rectangle 13"/>
          <p:cNvSpPr/>
          <p:nvPr/>
        </p:nvSpPr>
        <p:spPr>
          <a:xfrm>
            <a:off x="3611879" y="2514600"/>
            <a:ext cx="3992727" cy="27432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926080"/>
            <a:ext cx="3017520" cy="548640"/>
          </a:xfrm>
          <a:prstGeom prst="rect">
            <a:avLst/>
          </a:prstGeom>
          <a:noFill/>
        </p:spPr>
        <p:txBody>
          <a:bodyPr wrap="square" anchor="ctr" lIns="45720" rIns="45720" tIns="36576" bIns="36576">
            <a:no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Arial"/>
              </a:rPr>
              <a:t>Fact-check calibration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7200" y="3474720"/>
            <a:ext cx="11277295" cy="0"/>
          </a:xfrm>
          <a:prstGeom prst="line">
            <a:avLst/>
          </a:prstGeom>
          <a:ln w="12700">
            <a:solidFill>
              <a:srgbClr val="F2F2F2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5653963" y="3063240"/>
            <a:ext cx="3992727" cy="27432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474720"/>
            <a:ext cx="3017520" cy="548640"/>
          </a:xfrm>
          <a:prstGeom prst="rect">
            <a:avLst/>
          </a:prstGeom>
          <a:noFill/>
        </p:spPr>
        <p:txBody>
          <a:bodyPr wrap="square" anchor="ctr" lIns="45720" rIns="45720" tIns="36576" bIns="36576">
            <a:no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Arial"/>
              </a:rPr>
              <a:t>Review gates calibration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" y="4023359"/>
            <a:ext cx="11277295" cy="0"/>
          </a:xfrm>
          <a:prstGeom prst="line">
            <a:avLst/>
          </a:prstGeom>
          <a:ln w="12700">
            <a:solidFill>
              <a:srgbClr val="F2F2F2"/>
            </a:solidFill>
          </a:ln>
        </p:spPr>
      </p:cxnSp>
      <p:sp>
        <p:nvSpPr>
          <p:cNvPr id="20" name="Rectangle 19"/>
          <p:cNvSpPr/>
          <p:nvPr/>
        </p:nvSpPr>
        <p:spPr>
          <a:xfrm>
            <a:off x="7696047" y="3611879"/>
            <a:ext cx="1950643" cy="27432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023360"/>
            <a:ext cx="3017520" cy="548640"/>
          </a:xfrm>
          <a:prstGeom prst="rect">
            <a:avLst/>
          </a:prstGeom>
          <a:noFill/>
        </p:spPr>
        <p:txBody>
          <a:bodyPr wrap="square" anchor="ctr" lIns="45720" rIns="45720" tIns="36576" bIns="36576">
            <a:no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Arial"/>
              </a:rPr>
              <a:t>First real deck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57200" y="4572000"/>
            <a:ext cx="11277295" cy="0"/>
          </a:xfrm>
          <a:prstGeom prst="line">
            <a:avLst/>
          </a:prstGeom>
          <a:ln w="12700">
            <a:solidFill>
              <a:srgbClr val="F2F2F2"/>
            </a:solidFill>
          </a:ln>
        </p:spPr>
      </p:cxnSp>
      <p:sp>
        <p:nvSpPr>
          <p:cNvPr id="23" name="Rectangle 22"/>
          <p:cNvSpPr/>
          <p:nvPr/>
        </p:nvSpPr>
        <p:spPr>
          <a:xfrm>
            <a:off x="9738131" y="4160520"/>
            <a:ext cx="1950643" cy="2743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572000"/>
            <a:ext cx="3017520" cy="548640"/>
          </a:xfrm>
          <a:prstGeom prst="rect">
            <a:avLst/>
          </a:prstGeom>
          <a:noFill/>
        </p:spPr>
        <p:txBody>
          <a:bodyPr wrap="square" anchor="ctr" lIns="45720" rIns="45720" tIns="36576" bIns="36576">
            <a:no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Arial"/>
              </a:rPr>
              <a:t>Go or no-go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57200" y="5120640"/>
            <a:ext cx="11277295" cy="0"/>
          </a:xfrm>
          <a:prstGeom prst="line">
            <a:avLst/>
          </a:prstGeom>
          <a:ln w="12700">
            <a:solidFill>
              <a:srgbClr val="F2F2F2"/>
            </a:solidFill>
          </a:ln>
        </p:spPr>
      </p:cxnSp>
      <p:sp>
        <p:nvSpPr>
          <p:cNvPr id="26" name="Diamond 25"/>
          <p:cNvSpPr/>
          <p:nvPr/>
        </p:nvSpPr>
        <p:spPr>
          <a:xfrm>
            <a:off x="10576293" y="4709160"/>
            <a:ext cx="274320" cy="274320"/>
          </a:xfrm>
          <a:prstGeom prst="diamond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96012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Each prototype week closes on one deliverable that the next week builds 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27648"/>
            <a:ext cx="10362895" cy="3657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Source: Project planning assumption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327648"/>
            <a:ext cx="731520" cy="3657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17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2103120"/>
            <a:ext cx="11277295" cy="0"/>
          </a:xfrm>
          <a:prstGeom prst="line">
            <a:avLst/>
          </a:prstGeom>
          <a:ln w="31750">
            <a:solidFill>
              <a:srgbClr val="1F4E79"/>
            </a:solidFill>
            <a:tailEnd type="triangle"/>
          </a:ln>
        </p:spPr>
      </p:cxnSp>
      <p:sp>
        <p:nvSpPr>
          <p:cNvPr id="6" name="TextBox 5"/>
          <p:cNvSpPr txBox="1"/>
          <p:nvPr/>
        </p:nvSpPr>
        <p:spPr>
          <a:xfrm>
            <a:off x="457200" y="1417320"/>
            <a:ext cx="2682163" cy="50292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ctr"/>
            <a:r>
              <a:rPr sz="1200" b="1" i="0">
                <a:solidFill>
                  <a:srgbClr val="1F4E79"/>
                </a:solidFill>
                <a:latin typeface="Arial"/>
              </a:rPr>
              <a:t>Week 1</a:t>
            </a:r>
          </a:p>
        </p:txBody>
      </p:sp>
      <p:sp>
        <p:nvSpPr>
          <p:cNvPr id="7" name="Oval 6"/>
          <p:cNvSpPr/>
          <p:nvPr/>
        </p:nvSpPr>
        <p:spPr>
          <a:xfrm>
            <a:off x="1697697" y="2002536"/>
            <a:ext cx="201168" cy="201168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377439"/>
            <a:ext cx="2682163" cy="3840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Role prompts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Roles and references written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22243" y="1417320"/>
            <a:ext cx="2682163" cy="50292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ctr"/>
            <a:r>
              <a:rPr sz="1200" b="1" i="0">
                <a:solidFill>
                  <a:srgbClr val="1F4E79"/>
                </a:solidFill>
                <a:latin typeface="Arial"/>
              </a:rPr>
              <a:t>Week 2</a:t>
            </a:r>
          </a:p>
        </p:txBody>
      </p:sp>
      <p:sp>
        <p:nvSpPr>
          <p:cNvPr id="10" name="Oval 9"/>
          <p:cNvSpPr/>
          <p:nvPr/>
        </p:nvSpPr>
        <p:spPr>
          <a:xfrm>
            <a:off x="4562741" y="2002536"/>
            <a:ext cx="201168" cy="201168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22243" y="2377439"/>
            <a:ext cx="2682163" cy="3840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Generator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Layouts and linter tested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87287" y="1417320"/>
            <a:ext cx="2682163" cy="50292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ctr"/>
            <a:r>
              <a:rPr sz="1200" b="1" i="0">
                <a:solidFill>
                  <a:srgbClr val="1F4E79"/>
                </a:solidFill>
                <a:latin typeface="Arial"/>
              </a:rPr>
              <a:t>Week 3</a:t>
            </a:r>
          </a:p>
        </p:txBody>
      </p:sp>
      <p:sp>
        <p:nvSpPr>
          <p:cNvPr id="13" name="Oval 12"/>
          <p:cNvSpPr/>
          <p:nvPr/>
        </p:nvSpPr>
        <p:spPr>
          <a:xfrm>
            <a:off x="7427785" y="2002536"/>
            <a:ext cx="201168" cy="201168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7287" y="2377439"/>
            <a:ext cx="2682163" cy="3840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Reviews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Gates calibrated on three decks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331" y="1417320"/>
            <a:ext cx="2682163" cy="50292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ctr"/>
            <a:r>
              <a:rPr sz="1200" b="1" i="0">
                <a:solidFill>
                  <a:srgbClr val="1F4E79"/>
                </a:solidFill>
                <a:latin typeface="Arial"/>
              </a:rPr>
              <a:t>Week 4</a:t>
            </a:r>
          </a:p>
        </p:txBody>
      </p:sp>
      <p:sp>
        <p:nvSpPr>
          <p:cNvPr id="16" name="Oval 15"/>
          <p:cNvSpPr/>
          <p:nvPr/>
        </p:nvSpPr>
        <p:spPr>
          <a:xfrm>
            <a:off x="10292829" y="2002536"/>
            <a:ext cx="201168" cy="201168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052331" y="2377439"/>
            <a:ext cx="2682163" cy="3840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First real deck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Test on a live topic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96012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Building every deck from the reader's questions secures decks that decision makers act 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2975" y="6327648"/>
            <a:ext cx="731520" cy="3657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18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17320"/>
            <a:ext cx="11277295" cy="1143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 wrap="square" lIns="228600" rIns="228600" tIns="182880" bIns="18288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Run every deck through framing, fact-check and the two review gates before any slide reaches a client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275789" y="2560320"/>
            <a:ext cx="0" cy="274319"/>
          </a:xfrm>
          <a:prstGeom prst="line">
            <a:avLst/>
          </a:prstGeom>
          <a:ln w="19050">
            <a:solidFill>
              <a:srgbClr val="1F4E79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457200" y="2834639"/>
            <a:ext cx="3637178" cy="33832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Framing fixes the order of ideas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The reader's questions come first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5847" y="2560320"/>
            <a:ext cx="0" cy="274319"/>
          </a:xfrm>
          <a:prstGeom prst="line">
            <a:avLst/>
          </a:prstGeom>
          <a:ln w="19050">
            <a:solidFill>
              <a:srgbClr val="1F4E79"/>
            </a:solidFill>
          </a:ln>
        </p:spPr>
      </p:cxnSp>
      <p:sp>
        <p:nvSpPr>
          <p:cNvPr id="8" name="Rectangle 7"/>
          <p:cNvSpPr/>
          <p:nvPr/>
        </p:nvSpPr>
        <p:spPr>
          <a:xfrm>
            <a:off x="4277258" y="2834639"/>
            <a:ext cx="3637178" cy="33832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The fact-check secures every claim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Primary sources or two independent ones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915906" y="2560320"/>
            <a:ext cx="0" cy="274319"/>
          </a:xfrm>
          <a:prstGeom prst="line">
            <a:avLst/>
          </a:prstGeom>
          <a:ln w="19050">
            <a:solidFill>
              <a:srgbClr val="1F4E79"/>
            </a:solidFill>
          </a:ln>
        </p:spPr>
      </p:cxnSp>
      <p:sp>
        <p:nvSpPr>
          <p:cNvPr id="10" name="Rectangle 9"/>
          <p:cNvSpPr/>
          <p:nvPr/>
        </p:nvSpPr>
        <p:spPr>
          <a:xfrm>
            <a:off x="8097316" y="2834639"/>
            <a:ext cx="3637178" cy="33832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Gates protect the pyramid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A separate reviewer judges each level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96012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Three conditions decide the quality of the system beyond its prompts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2975" y="6327648"/>
            <a:ext cx="731520" cy="3657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19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17320"/>
            <a:ext cx="11277295" cy="4800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274320" rIns="274320" tIns="219456" bIns="219456">
            <a:noAutofit/>
          </a:bodyPr>
          <a:lstStyle/>
          <a:p>
            <a:pPr algn="l"/>
            <a:r>
              <a:rPr sz="1750" b="1" i="0">
                <a:solidFill>
                  <a:srgbClr val="1A1A1A"/>
                </a:solidFill>
                <a:latin typeface="Arial"/>
              </a:rPr>
              <a:t>The system is worth what its inputs and its checks are worth</a:t>
            </a:r>
          </a:p>
          <a:p>
            <a:pPr algn="l" marL="164592" indent="-164592">
              <a:spcBef>
                <a:spcPts val="800"/>
              </a:spcBef>
              <a:buChar char="•"/>
            </a:pPr>
            <a:r>
              <a:rPr sz="1600" b="0" i="0">
                <a:solidFill>
                  <a:srgbClr val="1A1A1A"/>
                </a:solidFill>
                <a:latin typeface="Arial"/>
              </a:rPr>
              <a:t>Framing obtains the reader's real questions before any drafting</a:t>
            </a:r>
          </a:p>
          <a:p>
            <a:pPr algn="l" marL="164592" indent="-164592">
              <a:spcBef>
                <a:spcPts val="800"/>
              </a:spcBef>
              <a:buChar char="•"/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sources provided contain the proof the deck asserts</a:t>
            </a:r>
          </a:p>
          <a:p>
            <a:pPr algn="l" marL="164592" indent="-164592">
              <a:spcBef>
                <a:spcPts val="800"/>
              </a:spcBef>
              <a:buChar char="•"/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reviewer keeps the right to block a slide without a message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